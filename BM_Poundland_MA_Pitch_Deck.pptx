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Ex2.xml" ContentType="application/vnd.ms-office.chartex+xml"/>
  <Override PartName="/ppt/charts/style3.xml" ContentType="application/vnd.ms-office.chartstyle+xml"/>
  <Override PartName="/ppt/charts/colors3.xml" ContentType="application/vnd.ms-office.chartcolorstyle+xml"/>
  <Override PartName="/ppt/charts/chart2.xml" ContentType="application/vnd.openxmlformats-officedocument.drawingml.chart+xml"/>
  <Override PartName="/ppt/charts/style4.xml" ContentType="application/vnd.ms-office.chartstyle+xml"/>
  <Override PartName="/ppt/charts/colors4.xml" ContentType="application/vnd.ms-office.chartcolorstyle+xml"/>
  <Override PartName="/ppt/charts/chart3.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6E6E"/>
    <a:srgbClr val="142A43"/>
    <a:srgbClr val="156082"/>
    <a:srgbClr val="F2F4F6"/>
    <a:srgbClr val="1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C44E9D-876F-4138-A5A8-161952F9103A}" v="216" dt="2026-09-12T11:03:31.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p:scale>
          <a:sx n="75" d="100"/>
          <a:sy n="75" d="100"/>
        </p:scale>
        <p:origin x="884" y="6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Pugh" userId="b719bf3b684c7c9c" providerId="LiveId" clId="{87D1FD04-DD1D-41EC-BC84-E36A7C71EC3E}"/>
    <pc:docChg chg="undo redo custSel addSld modSld sldOrd">
      <pc:chgData name="Jacob Pugh" userId="b719bf3b684c7c9c" providerId="LiveId" clId="{87D1FD04-DD1D-41EC-BC84-E36A7C71EC3E}" dt="2026-09-12T11:04:26.374" v="4559" actId="20577"/>
      <pc:docMkLst>
        <pc:docMk/>
      </pc:docMkLst>
      <pc:sldChg chg="modSp mod">
        <pc:chgData name="Jacob Pugh" userId="b719bf3b684c7c9c" providerId="LiveId" clId="{87D1FD04-DD1D-41EC-BC84-E36A7C71EC3E}" dt="2026-09-11T13:52:02.413" v="7" actId="1076"/>
        <pc:sldMkLst>
          <pc:docMk/>
          <pc:sldMk cId="2707000068" sldId="256"/>
        </pc:sldMkLst>
        <pc:spChg chg="mod">
          <ac:chgData name="Jacob Pugh" userId="b719bf3b684c7c9c" providerId="LiveId" clId="{87D1FD04-DD1D-41EC-BC84-E36A7C71EC3E}" dt="2026-09-11T13:48:42.224" v="2" actId="1076"/>
          <ac:spMkLst>
            <pc:docMk/>
            <pc:sldMk cId="2707000068" sldId="256"/>
            <ac:spMk id="16" creationId="{884EC986-F3E4-62E2-4400-92D055E00C15}"/>
          </ac:spMkLst>
        </pc:spChg>
        <pc:spChg chg="mod">
          <ac:chgData name="Jacob Pugh" userId="b719bf3b684c7c9c" providerId="LiveId" clId="{87D1FD04-DD1D-41EC-BC84-E36A7C71EC3E}" dt="2026-09-11T13:49:02.583" v="4" actId="408"/>
          <ac:spMkLst>
            <pc:docMk/>
            <pc:sldMk cId="2707000068" sldId="256"/>
            <ac:spMk id="18" creationId="{A5DB5F95-4756-E796-3EFB-577F10E167C1}"/>
          </ac:spMkLst>
        </pc:spChg>
        <pc:spChg chg="mod">
          <ac:chgData name="Jacob Pugh" userId="b719bf3b684c7c9c" providerId="LiveId" clId="{87D1FD04-DD1D-41EC-BC84-E36A7C71EC3E}" dt="2026-09-11T13:48:49.752" v="3" actId="1076"/>
          <ac:spMkLst>
            <pc:docMk/>
            <pc:sldMk cId="2707000068" sldId="256"/>
            <ac:spMk id="20" creationId="{5E541AC2-5002-7468-6C79-A0E921232ED7}"/>
          </ac:spMkLst>
        </pc:spChg>
        <pc:spChg chg="mod">
          <ac:chgData name="Jacob Pugh" userId="b719bf3b684c7c9c" providerId="LiveId" clId="{87D1FD04-DD1D-41EC-BC84-E36A7C71EC3E}" dt="2026-09-11T13:51:50.620" v="6" actId="1076"/>
          <ac:spMkLst>
            <pc:docMk/>
            <pc:sldMk cId="2707000068" sldId="256"/>
            <ac:spMk id="22" creationId="{BC61D3EC-CC38-0F92-CD77-BA1D98656C57}"/>
          </ac:spMkLst>
        </pc:spChg>
        <pc:spChg chg="mod">
          <ac:chgData name="Jacob Pugh" userId="b719bf3b684c7c9c" providerId="LiveId" clId="{87D1FD04-DD1D-41EC-BC84-E36A7C71EC3E}" dt="2026-09-11T13:52:02.413" v="7" actId="1076"/>
          <ac:spMkLst>
            <pc:docMk/>
            <pc:sldMk cId="2707000068" sldId="256"/>
            <ac:spMk id="23" creationId="{3C882308-EB61-F697-58C5-35792AA2EAFB}"/>
          </ac:spMkLst>
        </pc:spChg>
      </pc:sldChg>
      <pc:sldChg chg="addSp delSp modSp add mod">
        <pc:chgData name="Jacob Pugh" userId="b719bf3b684c7c9c" providerId="LiveId" clId="{87D1FD04-DD1D-41EC-BC84-E36A7C71EC3E}" dt="2026-09-11T14:16:08.742" v="371" actId="20577"/>
        <pc:sldMkLst>
          <pc:docMk/>
          <pc:sldMk cId="2088144813" sldId="257"/>
        </pc:sldMkLst>
        <pc:spChg chg="add mod">
          <ac:chgData name="Jacob Pugh" userId="b719bf3b684c7c9c" providerId="LiveId" clId="{87D1FD04-DD1D-41EC-BC84-E36A7C71EC3E}" dt="2026-09-11T14:15:39.497" v="369" actId="1076"/>
          <ac:spMkLst>
            <pc:docMk/>
            <pc:sldMk cId="2088144813" sldId="257"/>
            <ac:spMk id="3" creationId="{ABBF73FA-E6DF-FA7B-3F3D-26E23764CE05}"/>
          </ac:spMkLst>
        </pc:spChg>
        <pc:spChg chg="mod">
          <ac:chgData name="Jacob Pugh" userId="b719bf3b684c7c9c" providerId="LiveId" clId="{87D1FD04-DD1D-41EC-BC84-E36A7C71EC3E}" dt="2026-09-11T14:00:39.004" v="130" actId="20577"/>
          <ac:spMkLst>
            <pc:docMk/>
            <pc:sldMk cId="2088144813" sldId="257"/>
            <ac:spMk id="4" creationId="{6602B463-85F4-3305-AD76-05247FD28F5F}"/>
          </ac:spMkLst>
        </pc:spChg>
        <pc:spChg chg="add mod">
          <ac:chgData name="Jacob Pugh" userId="b719bf3b684c7c9c" providerId="LiveId" clId="{87D1FD04-DD1D-41EC-BC84-E36A7C71EC3E}" dt="2026-09-11T14:15:20.122" v="367" actId="555"/>
          <ac:spMkLst>
            <pc:docMk/>
            <pc:sldMk cId="2088144813" sldId="257"/>
            <ac:spMk id="6" creationId="{4EEC8927-D6A2-C4BE-00B5-1DCE771DD988}"/>
          </ac:spMkLst>
        </pc:spChg>
        <pc:spChg chg="del">
          <ac:chgData name="Jacob Pugh" userId="b719bf3b684c7c9c" providerId="LiveId" clId="{87D1FD04-DD1D-41EC-BC84-E36A7C71EC3E}" dt="2026-09-11T13:58:59.841" v="117" actId="478"/>
          <ac:spMkLst>
            <pc:docMk/>
            <pc:sldMk cId="2088144813" sldId="257"/>
            <ac:spMk id="7" creationId="{28323A6E-DD99-682B-D712-FABC5F9758A9}"/>
          </ac:spMkLst>
        </pc:spChg>
        <pc:spChg chg="del">
          <ac:chgData name="Jacob Pugh" userId="b719bf3b684c7c9c" providerId="LiveId" clId="{87D1FD04-DD1D-41EC-BC84-E36A7C71EC3E}" dt="2026-09-11T13:58:59.841" v="117" actId="478"/>
          <ac:spMkLst>
            <pc:docMk/>
            <pc:sldMk cId="2088144813" sldId="257"/>
            <ac:spMk id="9" creationId="{75AC506D-2539-3FAB-FD52-F2B977E5B384}"/>
          </ac:spMkLst>
        </pc:spChg>
        <pc:spChg chg="add mod">
          <ac:chgData name="Jacob Pugh" userId="b719bf3b684c7c9c" providerId="LiveId" clId="{87D1FD04-DD1D-41EC-BC84-E36A7C71EC3E}" dt="2026-09-11T14:15:33.439" v="368" actId="1076"/>
          <ac:spMkLst>
            <pc:docMk/>
            <pc:sldMk cId="2088144813" sldId="257"/>
            <ac:spMk id="10" creationId="{D6B95B21-1DBC-1B73-7458-8E81EE3B5C86}"/>
          </ac:spMkLst>
        </pc:spChg>
        <pc:spChg chg="del">
          <ac:chgData name="Jacob Pugh" userId="b719bf3b684c7c9c" providerId="LiveId" clId="{87D1FD04-DD1D-41EC-BC84-E36A7C71EC3E}" dt="2026-09-11T13:58:59.841" v="117" actId="478"/>
          <ac:spMkLst>
            <pc:docMk/>
            <pc:sldMk cId="2088144813" sldId="257"/>
            <ac:spMk id="11" creationId="{73B18297-4717-1A7B-2F8F-9B389F20EF28}"/>
          </ac:spMkLst>
        </pc:spChg>
        <pc:spChg chg="del">
          <ac:chgData name="Jacob Pugh" userId="b719bf3b684c7c9c" providerId="LiveId" clId="{87D1FD04-DD1D-41EC-BC84-E36A7C71EC3E}" dt="2026-09-11T13:58:59.841" v="117" actId="478"/>
          <ac:spMkLst>
            <pc:docMk/>
            <pc:sldMk cId="2088144813" sldId="257"/>
            <ac:spMk id="13" creationId="{90513282-5406-D5B1-A283-E7370F488079}"/>
          </ac:spMkLst>
        </pc:spChg>
        <pc:spChg chg="del">
          <ac:chgData name="Jacob Pugh" userId="b719bf3b684c7c9c" providerId="LiveId" clId="{87D1FD04-DD1D-41EC-BC84-E36A7C71EC3E}" dt="2026-09-11T13:58:59.841" v="117" actId="478"/>
          <ac:spMkLst>
            <pc:docMk/>
            <pc:sldMk cId="2088144813" sldId="257"/>
            <ac:spMk id="15" creationId="{EB85AE18-F3EC-0F8E-9FE7-034F776F5122}"/>
          </ac:spMkLst>
        </pc:spChg>
        <pc:spChg chg="mod">
          <ac:chgData name="Jacob Pugh" userId="b719bf3b684c7c9c" providerId="LiveId" clId="{87D1FD04-DD1D-41EC-BC84-E36A7C71EC3E}" dt="2026-09-11T14:15:11.159" v="366" actId="1076"/>
          <ac:spMkLst>
            <pc:docMk/>
            <pc:sldMk cId="2088144813" sldId="257"/>
            <ac:spMk id="16" creationId="{53014A3E-0857-5AD0-54FE-9A56DC05ED01}"/>
          </ac:spMkLst>
        </pc:spChg>
        <pc:spChg chg="del">
          <ac:chgData name="Jacob Pugh" userId="b719bf3b684c7c9c" providerId="LiveId" clId="{87D1FD04-DD1D-41EC-BC84-E36A7C71EC3E}" dt="2026-09-11T14:04:36.034" v="227" actId="478"/>
          <ac:spMkLst>
            <pc:docMk/>
            <pc:sldMk cId="2088144813" sldId="257"/>
            <ac:spMk id="18" creationId="{0787BED3-4422-D1F1-14EB-87F445EAA8B0}"/>
          </ac:spMkLst>
        </pc:spChg>
        <pc:spChg chg="del mod">
          <ac:chgData name="Jacob Pugh" userId="b719bf3b684c7c9c" providerId="LiveId" clId="{87D1FD04-DD1D-41EC-BC84-E36A7C71EC3E}" dt="2026-09-11T13:59:08.652" v="119" actId="478"/>
          <ac:spMkLst>
            <pc:docMk/>
            <pc:sldMk cId="2088144813" sldId="257"/>
            <ac:spMk id="20" creationId="{25B98708-9DA6-615C-44C9-6A3221EEEB45}"/>
          </ac:spMkLst>
        </pc:spChg>
        <pc:spChg chg="mod">
          <ac:chgData name="Jacob Pugh" userId="b719bf3b684c7c9c" providerId="LiveId" clId="{87D1FD04-DD1D-41EC-BC84-E36A7C71EC3E}" dt="2026-09-11T14:11:09.592" v="357" actId="1076"/>
          <ac:spMkLst>
            <pc:docMk/>
            <pc:sldMk cId="2088144813" sldId="257"/>
            <ac:spMk id="21" creationId="{82290C9E-2559-5AF5-6EFD-3A7EE10D43BB}"/>
          </ac:spMkLst>
        </pc:spChg>
        <pc:spChg chg="mod">
          <ac:chgData name="Jacob Pugh" userId="b719bf3b684c7c9c" providerId="LiveId" clId="{87D1FD04-DD1D-41EC-BC84-E36A7C71EC3E}" dt="2026-09-11T14:16:08.742" v="371" actId="20577"/>
          <ac:spMkLst>
            <pc:docMk/>
            <pc:sldMk cId="2088144813" sldId="257"/>
            <ac:spMk id="23" creationId="{EBB41AF0-62F9-42BA-6D75-E3ADD4EDA28B}"/>
          </ac:spMkLst>
        </pc:spChg>
      </pc:sldChg>
      <pc:sldChg chg="addSp delSp modSp add mod">
        <pc:chgData name="Jacob Pugh" userId="b719bf3b684c7c9c" providerId="LiveId" clId="{87D1FD04-DD1D-41EC-BC84-E36A7C71EC3E}" dt="2026-09-11T23:47:34.595" v="3843" actId="14100"/>
        <pc:sldMkLst>
          <pc:docMk/>
          <pc:sldMk cId="2074584212" sldId="258"/>
        </pc:sldMkLst>
        <pc:spChg chg="del mod">
          <ac:chgData name="Jacob Pugh" userId="b719bf3b684c7c9c" providerId="LiveId" clId="{87D1FD04-DD1D-41EC-BC84-E36A7C71EC3E}" dt="2026-09-11T15:08:36.298" v="954" actId="478"/>
          <ac:spMkLst>
            <pc:docMk/>
            <pc:sldMk cId="2074584212" sldId="258"/>
            <ac:spMk id="3" creationId="{01C70658-1950-D29C-2186-02C2B17411FA}"/>
          </ac:spMkLst>
        </pc:spChg>
        <pc:spChg chg="mod">
          <ac:chgData name="Jacob Pugh" userId="b719bf3b684c7c9c" providerId="LiveId" clId="{87D1FD04-DD1D-41EC-BC84-E36A7C71EC3E}" dt="2026-09-11T14:18:01.246" v="379" actId="20577"/>
          <ac:spMkLst>
            <pc:docMk/>
            <pc:sldMk cId="2074584212" sldId="258"/>
            <ac:spMk id="4" creationId="{6C32EE32-161E-E946-A8F4-7652CBE7BF0F}"/>
          </ac:spMkLst>
        </pc:spChg>
        <pc:spChg chg="del">
          <ac:chgData name="Jacob Pugh" userId="b719bf3b684c7c9c" providerId="LiveId" clId="{87D1FD04-DD1D-41EC-BC84-E36A7C71EC3E}" dt="2026-09-11T14:18:20.438" v="381" actId="478"/>
          <ac:spMkLst>
            <pc:docMk/>
            <pc:sldMk cId="2074584212" sldId="258"/>
            <ac:spMk id="6" creationId="{42F9455E-ABE9-6445-F934-F28E0F49AF79}"/>
          </ac:spMkLst>
        </pc:spChg>
        <pc:spChg chg="add mod">
          <ac:chgData name="Jacob Pugh" userId="b719bf3b684c7c9c" providerId="LiveId" clId="{87D1FD04-DD1D-41EC-BC84-E36A7C71EC3E}" dt="2026-09-11T15:20:49.004" v="1044" actId="554"/>
          <ac:spMkLst>
            <pc:docMk/>
            <pc:sldMk cId="2074584212" sldId="258"/>
            <ac:spMk id="7" creationId="{EC3D9815-2B8D-A38A-70FD-0DE2FB57BCF8}"/>
          </ac:spMkLst>
        </pc:spChg>
        <pc:spChg chg="add del">
          <ac:chgData name="Jacob Pugh" userId="b719bf3b684c7c9c" providerId="LiveId" clId="{87D1FD04-DD1D-41EC-BC84-E36A7C71EC3E}" dt="2026-09-11T14:39:35.590" v="672" actId="22"/>
          <ac:spMkLst>
            <pc:docMk/>
            <pc:sldMk cId="2074584212" sldId="258"/>
            <ac:spMk id="9" creationId="{848320D4-AA36-60C4-1807-31DA4FAF8797}"/>
          </ac:spMkLst>
        </pc:spChg>
        <pc:spChg chg="del mod">
          <ac:chgData name="Jacob Pugh" userId="b719bf3b684c7c9c" providerId="LiveId" clId="{87D1FD04-DD1D-41EC-BC84-E36A7C71EC3E}" dt="2026-09-11T14:34:06.530" v="524" actId="478"/>
          <ac:spMkLst>
            <pc:docMk/>
            <pc:sldMk cId="2074584212" sldId="258"/>
            <ac:spMk id="10" creationId="{16FBDA81-FEB5-BB55-9630-B218A22857FD}"/>
          </ac:spMkLst>
        </pc:spChg>
        <pc:spChg chg="add mod">
          <ac:chgData name="Jacob Pugh" userId="b719bf3b684c7c9c" providerId="LiveId" clId="{87D1FD04-DD1D-41EC-BC84-E36A7C71EC3E}" dt="2026-09-11T15:26:48.977" v="1110" actId="20577"/>
          <ac:spMkLst>
            <pc:docMk/>
            <pc:sldMk cId="2074584212" sldId="258"/>
            <ac:spMk id="15" creationId="{38B10C52-A668-81B1-F3FD-FDF98292BAB5}"/>
          </ac:spMkLst>
        </pc:spChg>
        <pc:spChg chg="del">
          <ac:chgData name="Jacob Pugh" userId="b719bf3b684c7c9c" providerId="LiveId" clId="{87D1FD04-DD1D-41EC-BC84-E36A7C71EC3E}" dt="2026-09-11T14:18:19.152" v="380" actId="478"/>
          <ac:spMkLst>
            <pc:docMk/>
            <pc:sldMk cId="2074584212" sldId="258"/>
            <ac:spMk id="16" creationId="{48F14004-F01F-A5A3-40D4-C43CCD6E090A}"/>
          </ac:spMkLst>
        </pc:spChg>
        <pc:spChg chg="add mod">
          <ac:chgData name="Jacob Pugh" userId="b719bf3b684c7c9c" providerId="LiveId" clId="{87D1FD04-DD1D-41EC-BC84-E36A7C71EC3E}" dt="2026-09-11T15:27:22.479" v="1114" actId="1076"/>
          <ac:spMkLst>
            <pc:docMk/>
            <pc:sldMk cId="2074584212" sldId="258"/>
            <ac:spMk id="18" creationId="{69040E34-6037-463F-4A91-FDACA165E67F}"/>
          </ac:spMkLst>
        </pc:spChg>
        <pc:spChg chg="add del mod">
          <ac:chgData name="Jacob Pugh" userId="b719bf3b684c7c9c" providerId="LiveId" clId="{87D1FD04-DD1D-41EC-BC84-E36A7C71EC3E}" dt="2026-09-11T14:50:47.996" v="859" actId="478"/>
          <ac:spMkLst>
            <pc:docMk/>
            <pc:sldMk cId="2074584212" sldId="258"/>
            <ac:spMk id="20" creationId="{ACFC3C4F-6BB8-4F4A-A234-1E54DDA13F66}"/>
          </ac:spMkLst>
        </pc:spChg>
        <pc:spChg chg="mod">
          <ac:chgData name="Jacob Pugh" userId="b719bf3b684c7c9c" providerId="LiveId" clId="{87D1FD04-DD1D-41EC-BC84-E36A7C71EC3E}" dt="2026-09-11T15:15:55.087" v="1033" actId="1076"/>
          <ac:spMkLst>
            <pc:docMk/>
            <pc:sldMk cId="2074584212" sldId="258"/>
            <ac:spMk id="21" creationId="{C2116500-0377-4579-FACD-692878598F26}"/>
          </ac:spMkLst>
        </pc:spChg>
        <pc:spChg chg="mod">
          <ac:chgData name="Jacob Pugh" userId="b719bf3b684c7c9c" providerId="LiveId" clId="{87D1FD04-DD1D-41EC-BC84-E36A7C71EC3E}" dt="2026-09-11T15:27:03.555" v="1112" actId="20577"/>
          <ac:spMkLst>
            <pc:docMk/>
            <pc:sldMk cId="2074584212" sldId="258"/>
            <ac:spMk id="23" creationId="{FEDE1C51-C69B-AE4E-E384-0C6618A57FBC}"/>
          </ac:spMkLst>
        </pc:spChg>
        <pc:spChg chg="add mod ord">
          <ac:chgData name="Jacob Pugh" userId="b719bf3b684c7c9c" providerId="LiveId" clId="{87D1FD04-DD1D-41EC-BC84-E36A7C71EC3E}" dt="2026-09-11T15:25:42.738" v="1077" actId="14100"/>
          <ac:spMkLst>
            <pc:docMk/>
            <pc:sldMk cId="2074584212" sldId="258"/>
            <ac:spMk id="31" creationId="{8548C6E9-83DE-DF16-BA89-4E58078327DB}"/>
          </ac:spMkLst>
        </pc:spChg>
        <pc:spChg chg="add del mod">
          <ac:chgData name="Jacob Pugh" userId="b719bf3b684c7c9c" providerId="LiveId" clId="{87D1FD04-DD1D-41EC-BC84-E36A7C71EC3E}" dt="2026-09-11T15:20:38.444" v="1043"/>
          <ac:spMkLst>
            <pc:docMk/>
            <pc:sldMk cId="2074584212" sldId="258"/>
            <ac:spMk id="32" creationId="{DD70B3DE-6F33-A83C-8A47-7FC38B4C64F7}"/>
          </ac:spMkLst>
        </pc:spChg>
        <pc:graphicFrameChg chg="add mod modGraphic">
          <ac:chgData name="Jacob Pugh" userId="b719bf3b684c7c9c" providerId="LiveId" clId="{87D1FD04-DD1D-41EC-BC84-E36A7C71EC3E}" dt="2026-09-11T15:17:27.216" v="1034" actId="14100"/>
          <ac:graphicFrameMkLst>
            <pc:docMk/>
            <pc:sldMk cId="2074584212" sldId="258"/>
            <ac:graphicFrameMk id="2" creationId="{C7BF6CDE-B423-E905-4BF6-9781EA5FD492}"/>
          </ac:graphicFrameMkLst>
        </pc:graphicFrameChg>
        <pc:graphicFrameChg chg="add del mod">
          <ac:chgData name="Jacob Pugh" userId="b719bf3b684c7c9c" providerId="LiveId" clId="{87D1FD04-DD1D-41EC-BC84-E36A7C71EC3E}" dt="2026-09-11T14:46:22.686" v="710" actId="478"/>
          <ac:graphicFrameMkLst>
            <pc:docMk/>
            <pc:sldMk cId="2074584212" sldId="258"/>
            <ac:graphicFrameMk id="13" creationId="{608E2F27-FF68-F81C-C506-B3B6D280B128}"/>
          </ac:graphicFrameMkLst>
        </pc:graphicFrameChg>
        <pc:graphicFrameChg chg="add mod">
          <ac:chgData name="Jacob Pugh" userId="b719bf3b684c7c9c" providerId="LiveId" clId="{87D1FD04-DD1D-41EC-BC84-E36A7C71EC3E}" dt="2026-09-11T15:27:49.313" v="1121" actId="14100"/>
          <ac:graphicFrameMkLst>
            <pc:docMk/>
            <pc:sldMk cId="2074584212" sldId="258"/>
            <ac:graphicFrameMk id="26" creationId="{2E29636B-84DE-1333-E9EE-2A9C3F3203BB}"/>
          </ac:graphicFrameMkLst>
        </pc:graphicFrameChg>
        <pc:graphicFrameChg chg="add mod modGraphic">
          <ac:chgData name="Jacob Pugh" userId="b719bf3b684c7c9c" providerId="LiveId" clId="{87D1FD04-DD1D-41EC-BC84-E36A7C71EC3E}" dt="2026-09-11T23:47:34.595" v="3843" actId="14100"/>
          <ac:graphicFrameMkLst>
            <pc:docMk/>
            <pc:sldMk cId="2074584212" sldId="258"/>
            <ac:graphicFrameMk id="29" creationId="{8E605243-2F76-CFBE-E62A-CDEC035C472A}"/>
          </ac:graphicFrameMkLst>
        </pc:graphicFrameChg>
      </pc:sldChg>
      <pc:sldChg chg="modSp">
        <pc:chgData name="Jacob Pugh" userId="b719bf3b684c7c9c" providerId="LiveId" clId="{87D1FD04-DD1D-41EC-BC84-E36A7C71EC3E}" dt="2026-09-11T15:00:16.843" v="911"/>
        <pc:sldMkLst>
          <pc:docMk/>
          <pc:sldMk cId="2074584212" sldId="258"/>
        </pc:sldMkLst>
        <pc:graphicFrameChg chg="modGraphic">
          <ac:chgData name="Jacob Pugh" userId="b719bf3b684c7c9c" providerId="LiveId" clId="{87D1FD04-DD1D-41EC-BC84-E36A7C71EC3E}" dt="2026-09-11T15:00:16.843" v="911"/>
          <ac:graphicFrameMkLst>
            <pc:docMk/>
            <pc:sldMk cId="2074584212" sldId="258"/>
            <ac:graphicFrameMk id="29" creationId="{8E605243-2F76-CFBE-E62A-CDEC035C472A}"/>
          </ac:graphicFrameMkLst>
        </pc:graphicFrameChg>
      </pc:sldChg>
      <pc:sldChg chg="addSp delSp modSp add mod ord">
        <pc:chgData name="Jacob Pugh" userId="b719bf3b684c7c9c" providerId="LiveId" clId="{87D1FD04-DD1D-41EC-BC84-E36A7C71EC3E}" dt="2026-09-11T17:48:20.253" v="2032" actId="208"/>
        <pc:sldMkLst>
          <pc:docMk/>
          <pc:sldMk cId="3445829196" sldId="259"/>
        </pc:sldMkLst>
        <pc:spChg chg="mod">
          <ac:chgData name="Jacob Pugh" userId="b719bf3b684c7c9c" providerId="LiveId" clId="{87D1FD04-DD1D-41EC-BC84-E36A7C71EC3E}" dt="2026-09-11T17:31:22.966" v="1816" actId="1076"/>
          <ac:spMkLst>
            <pc:docMk/>
            <pc:sldMk cId="3445829196" sldId="259"/>
            <ac:spMk id="3" creationId="{B9A034F7-222B-8D1E-DB44-385659CD7EA9}"/>
          </ac:spMkLst>
        </pc:spChg>
        <pc:spChg chg="mod">
          <ac:chgData name="Jacob Pugh" userId="b719bf3b684c7c9c" providerId="LiveId" clId="{87D1FD04-DD1D-41EC-BC84-E36A7C71EC3E}" dt="2026-09-11T16:59:00.458" v="1150"/>
          <ac:spMkLst>
            <pc:docMk/>
            <pc:sldMk cId="3445829196" sldId="259"/>
            <ac:spMk id="4" creationId="{177FF968-1F44-D5A3-C59E-B1027FDD5C22}"/>
          </ac:spMkLst>
        </pc:spChg>
        <pc:spChg chg="add mod">
          <ac:chgData name="Jacob Pugh" userId="b719bf3b684c7c9c" providerId="LiveId" clId="{87D1FD04-DD1D-41EC-BC84-E36A7C71EC3E}" dt="2026-09-11T17:31:28.765" v="1817" actId="1076"/>
          <ac:spMkLst>
            <pc:docMk/>
            <pc:sldMk cId="3445829196" sldId="259"/>
            <ac:spMk id="5" creationId="{14D75A71-88E0-0B53-B118-DB5C2140AEBC}"/>
          </ac:spMkLst>
        </pc:spChg>
        <pc:spChg chg="mod">
          <ac:chgData name="Jacob Pugh" userId="b719bf3b684c7c9c" providerId="LiveId" clId="{87D1FD04-DD1D-41EC-BC84-E36A7C71EC3E}" dt="2026-09-11T17:32:11.560" v="1818" actId="14100"/>
          <ac:spMkLst>
            <pc:docMk/>
            <pc:sldMk cId="3445829196" sldId="259"/>
            <ac:spMk id="6" creationId="{5B5562F8-5ED9-F25E-9532-45BE01F8BB2D}"/>
          </ac:spMkLst>
        </pc:spChg>
        <pc:spChg chg="add mod">
          <ac:chgData name="Jacob Pugh" userId="b719bf3b684c7c9c" providerId="LiveId" clId="{87D1FD04-DD1D-41EC-BC84-E36A7C71EC3E}" dt="2026-09-11T17:47:32.350" v="2030" actId="20577"/>
          <ac:spMkLst>
            <pc:docMk/>
            <pc:sldMk cId="3445829196" sldId="259"/>
            <ac:spMk id="8" creationId="{AE3E5FFC-8A45-80BE-DAA0-4AE2ECD6953C}"/>
          </ac:spMkLst>
        </pc:spChg>
        <pc:spChg chg="del">
          <ac:chgData name="Jacob Pugh" userId="b719bf3b684c7c9c" providerId="LiveId" clId="{87D1FD04-DD1D-41EC-BC84-E36A7C71EC3E}" dt="2026-09-11T16:59:09.365" v="1152" actId="478"/>
          <ac:spMkLst>
            <pc:docMk/>
            <pc:sldMk cId="3445829196" sldId="259"/>
            <ac:spMk id="10" creationId="{1D5567C5-E942-961E-3C12-2C2EDC0705D6}"/>
          </ac:spMkLst>
        </pc:spChg>
        <pc:spChg chg="add mod">
          <ac:chgData name="Jacob Pugh" userId="b719bf3b684c7c9c" providerId="LiveId" clId="{87D1FD04-DD1D-41EC-BC84-E36A7C71EC3E}" dt="2026-09-11T17:48:20.253" v="2032" actId="208"/>
          <ac:spMkLst>
            <pc:docMk/>
            <pc:sldMk cId="3445829196" sldId="259"/>
            <ac:spMk id="14" creationId="{6490A061-3305-12E1-097B-18ADA7C972D3}"/>
          </ac:spMkLst>
        </pc:spChg>
        <pc:spChg chg="del">
          <ac:chgData name="Jacob Pugh" userId="b719bf3b684c7c9c" providerId="LiveId" clId="{87D1FD04-DD1D-41EC-BC84-E36A7C71EC3E}" dt="2026-09-11T16:59:08.850" v="1151" actId="478"/>
          <ac:spMkLst>
            <pc:docMk/>
            <pc:sldMk cId="3445829196" sldId="259"/>
            <ac:spMk id="16" creationId="{EAE3DD99-2A32-457F-F254-EF322331EDB8}"/>
          </ac:spMkLst>
        </pc:spChg>
        <pc:spChg chg="add del mod">
          <ac:chgData name="Jacob Pugh" userId="b719bf3b684c7c9c" providerId="LiveId" clId="{87D1FD04-DD1D-41EC-BC84-E36A7C71EC3E}" dt="2026-09-11T17:41:36.286" v="1858" actId="478"/>
          <ac:spMkLst>
            <pc:docMk/>
            <pc:sldMk cId="3445829196" sldId="259"/>
            <ac:spMk id="17" creationId="{85C165BC-AAE3-C522-D18C-B9A333BA6EF9}"/>
          </ac:spMkLst>
        </pc:spChg>
        <pc:spChg chg="add del mod">
          <ac:chgData name="Jacob Pugh" userId="b719bf3b684c7c9c" providerId="LiveId" clId="{87D1FD04-DD1D-41EC-BC84-E36A7C71EC3E}" dt="2026-09-11T17:41:35.342" v="1857" actId="478"/>
          <ac:spMkLst>
            <pc:docMk/>
            <pc:sldMk cId="3445829196" sldId="259"/>
            <ac:spMk id="19" creationId="{DB32DFDC-9875-BC07-3D33-A70F19407A0C}"/>
          </ac:spMkLst>
        </pc:spChg>
        <pc:spChg chg="mod">
          <ac:chgData name="Jacob Pugh" userId="b719bf3b684c7c9c" providerId="LiveId" clId="{87D1FD04-DD1D-41EC-BC84-E36A7C71EC3E}" dt="2026-09-11T17:16:30.815" v="1610" actId="1076"/>
          <ac:spMkLst>
            <pc:docMk/>
            <pc:sldMk cId="3445829196" sldId="259"/>
            <ac:spMk id="21" creationId="{E0E365B3-0FDB-A74F-9D60-41B7C4F8F839}"/>
          </ac:spMkLst>
        </pc:spChg>
        <pc:spChg chg="mod">
          <ac:chgData name="Jacob Pugh" userId="b719bf3b684c7c9c" providerId="LiveId" clId="{87D1FD04-DD1D-41EC-BC84-E36A7C71EC3E}" dt="2026-09-11T17:08:51.394" v="1528" actId="20577"/>
          <ac:spMkLst>
            <pc:docMk/>
            <pc:sldMk cId="3445829196" sldId="259"/>
            <ac:spMk id="23" creationId="{43162C9E-5E77-348F-CA0F-AF40D80A5925}"/>
          </ac:spMkLst>
        </pc:spChg>
        <pc:spChg chg="add mod">
          <ac:chgData name="Jacob Pugh" userId="b719bf3b684c7c9c" providerId="LiveId" clId="{87D1FD04-DD1D-41EC-BC84-E36A7C71EC3E}" dt="2026-09-11T17:48:20.253" v="2032" actId="208"/>
          <ac:spMkLst>
            <pc:docMk/>
            <pc:sldMk cId="3445829196" sldId="259"/>
            <ac:spMk id="24" creationId="{0A443357-6BD4-2A29-3343-83DEC97CA384}"/>
          </ac:spMkLst>
        </pc:spChg>
        <pc:spChg chg="add mod">
          <ac:chgData name="Jacob Pugh" userId="b719bf3b684c7c9c" providerId="LiveId" clId="{87D1FD04-DD1D-41EC-BC84-E36A7C71EC3E}" dt="2026-09-11T17:45:27.927" v="1903" actId="1076"/>
          <ac:spMkLst>
            <pc:docMk/>
            <pc:sldMk cId="3445829196" sldId="259"/>
            <ac:spMk id="26" creationId="{98A3819D-D50A-1BC0-729C-C61C2830130D}"/>
          </ac:spMkLst>
        </pc:spChg>
        <pc:spChg chg="add mod">
          <ac:chgData name="Jacob Pugh" userId="b719bf3b684c7c9c" providerId="LiveId" clId="{87D1FD04-DD1D-41EC-BC84-E36A7C71EC3E}" dt="2026-09-11T17:48:20.253" v="2032" actId="208"/>
          <ac:spMkLst>
            <pc:docMk/>
            <pc:sldMk cId="3445829196" sldId="259"/>
            <ac:spMk id="28" creationId="{8E2B5732-353C-CF43-C628-78AC91EED195}"/>
          </ac:spMkLst>
        </pc:spChg>
        <pc:spChg chg="add mod">
          <ac:chgData name="Jacob Pugh" userId="b719bf3b684c7c9c" providerId="LiveId" clId="{87D1FD04-DD1D-41EC-BC84-E36A7C71EC3E}" dt="2026-09-11T17:48:20.253" v="2032" actId="208"/>
          <ac:spMkLst>
            <pc:docMk/>
            <pc:sldMk cId="3445829196" sldId="259"/>
            <ac:spMk id="30" creationId="{9DA663E1-7184-4C6D-A77B-2F43C9FF7D39}"/>
          </ac:spMkLst>
        </pc:spChg>
        <pc:spChg chg="add mod">
          <ac:chgData name="Jacob Pugh" userId="b719bf3b684c7c9c" providerId="LiveId" clId="{87D1FD04-DD1D-41EC-BC84-E36A7C71EC3E}" dt="2026-09-11T17:43:53.052" v="1896" actId="1076"/>
          <ac:spMkLst>
            <pc:docMk/>
            <pc:sldMk cId="3445829196" sldId="259"/>
            <ac:spMk id="32" creationId="{7FD8AF4B-3435-FD73-9478-802ACC60D967}"/>
          </ac:spMkLst>
        </pc:spChg>
        <pc:spChg chg="add mod">
          <ac:chgData name="Jacob Pugh" userId="b719bf3b684c7c9c" providerId="LiveId" clId="{87D1FD04-DD1D-41EC-BC84-E36A7C71EC3E}" dt="2026-09-11T17:48:20.253" v="2032" actId="208"/>
          <ac:spMkLst>
            <pc:docMk/>
            <pc:sldMk cId="3445829196" sldId="259"/>
            <ac:spMk id="34" creationId="{5FE185E2-9A70-3A2E-2B55-887B0FE0620B}"/>
          </ac:spMkLst>
        </pc:spChg>
        <pc:spChg chg="add mod">
          <ac:chgData name="Jacob Pugh" userId="b719bf3b684c7c9c" providerId="LiveId" clId="{87D1FD04-DD1D-41EC-BC84-E36A7C71EC3E}" dt="2026-09-11T17:44:11.318" v="1901" actId="1076"/>
          <ac:spMkLst>
            <pc:docMk/>
            <pc:sldMk cId="3445829196" sldId="259"/>
            <ac:spMk id="36" creationId="{81A66828-CC62-D106-269C-2873E6F39FEE}"/>
          </ac:spMkLst>
        </pc:spChg>
        <pc:spChg chg="add mod">
          <ac:chgData name="Jacob Pugh" userId="b719bf3b684c7c9c" providerId="LiveId" clId="{87D1FD04-DD1D-41EC-BC84-E36A7C71EC3E}" dt="2026-09-11T17:48:20.253" v="2032" actId="208"/>
          <ac:spMkLst>
            <pc:docMk/>
            <pc:sldMk cId="3445829196" sldId="259"/>
            <ac:spMk id="38" creationId="{63756630-E896-1488-1511-15A7B7E4A5C3}"/>
          </ac:spMkLst>
        </pc:spChg>
        <pc:cxnChg chg="add mod">
          <ac:chgData name="Jacob Pugh" userId="b719bf3b684c7c9c" providerId="LiveId" clId="{87D1FD04-DD1D-41EC-BC84-E36A7C71EC3E}" dt="2026-09-11T17:48:20.253" v="2032" actId="208"/>
          <ac:cxnSpMkLst>
            <pc:docMk/>
            <pc:sldMk cId="3445829196" sldId="259"/>
            <ac:cxnSpMk id="11" creationId="{60C74B62-8565-D979-0774-7B7A28EB8320}"/>
          </ac:cxnSpMkLst>
        </pc:cxnChg>
        <pc:cxnChg chg="add mod">
          <ac:chgData name="Jacob Pugh" userId="b719bf3b684c7c9c" providerId="LiveId" clId="{87D1FD04-DD1D-41EC-BC84-E36A7C71EC3E}" dt="2026-09-11T17:48:20.253" v="2032" actId="208"/>
          <ac:cxnSpMkLst>
            <pc:docMk/>
            <pc:sldMk cId="3445829196" sldId="259"/>
            <ac:cxnSpMk id="12" creationId="{B0B4B86D-0785-A701-7AEF-B115D8283C5A}"/>
          </ac:cxnSpMkLst>
        </pc:cxnChg>
        <pc:cxnChg chg="add mod">
          <ac:chgData name="Jacob Pugh" userId="b719bf3b684c7c9c" providerId="LiveId" clId="{87D1FD04-DD1D-41EC-BC84-E36A7C71EC3E}" dt="2026-09-11T17:37:44.687" v="1835" actId="1076"/>
          <ac:cxnSpMkLst>
            <pc:docMk/>
            <pc:sldMk cId="3445829196" sldId="259"/>
            <ac:cxnSpMk id="13" creationId="{FDCB5284-676B-E2CB-D302-6F381EFCB5E9}"/>
          </ac:cxnSpMkLst>
        </pc:cxnChg>
      </pc:sldChg>
      <pc:sldChg chg="addSp delSp modSp add mod">
        <pc:chgData name="Jacob Pugh" userId="b719bf3b684c7c9c" providerId="LiveId" clId="{87D1FD04-DD1D-41EC-BC84-E36A7C71EC3E}" dt="2026-09-11T23:45:47.788" v="3838"/>
        <pc:sldMkLst>
          <pc:docMk/>
          <pc:sldMk cId="1789299423" sldId="260"/>
        </pc:sldMkLst>
        <pc:spChg chg="del mod">
          <ac:chgData name="Jacob Pugh" userId="b719bf3b684c7c9c" providerId="LiveId" clId="{87D1FD04-DD1D-41EC-BC84-E36A7C71EC3E}" dt="2026-09-11T18:00:19.615" v="2203" actId="478"/>
          <ac:spMkLst>
            <pc:docMk/>
            <pc:sldMk cId="1789299423" sldId="260"/>
            <ac:spMk id="3" creationId="{095C9118-1801-AA67-8CF0-3C389336AF27}"/>
          </ac:spMkLst>
        </pc:spChg>
        <pc:spChg chg="mod">
          <ac:chgData name="Jacob Pugh" userId="b719bf3b684c7c9c" providerId="LiveId" clId="{87D1FD04-DD1D-41EC-BC84-E36A7C71EC3E}" dt="2026-09-11T17:51:22.860" v="2034"/>
          <ac:spMkLst>
            <pc:docMk/>
            <pc:sldMk cId="1789299423" sldId="260"/>
            <ac:spMk id="4" creationId="{5761755C-3482-8B85-9DFD-7C1746CC058F}"/>
          </ac:spMkLst>
        </pc:spChg>
        <pc:spChg chg="del">
          <ac:chgData name="Jacob Pugh" userId="b719bf3b684c7c9c" providerId="LiveId" clId="{87D1FD04-DD1D-41EC-BC84-E36A7C71EC3E}" dt="2026-09-11T18:00:24.300" v="2204" actId="478"/>
          <ac:spMkLst>
            <pc:docMk/>
            <pc:sldMk cId="1789299423" sldId="260"/>
            <ac:spMk id="5" creationId="{004BD4EC-B327-1D7B-D877-941B5AE7268F}"/>
          </ac:spMkLst>
        </pc:spChg>
        <pc:spChg chg="mod">
          <ac:chgData name="Jacob Pugh" userId="b719bf3b684c7c9c" providerId="LiveId" clId="{87D1FD04-DD1D-41EC-BC84-E36A7C71EC3E}" dt="2026-09-11T18:31:33.271" v="2754" actId="1076"/>
          <ac:spMkLst>
            <pc:docMk/>
            <pc:sldMk cId="1789299423" sldId="260"/>
            <ac:spMk id="6" creationId="{2F4D411F-515B-F4FA-7504-646509457490}"/>
          </ac:spMkLst>
        </pc:spChg>
        <pc:spChg chg="add mod">
          <ac:chgData name="Jacob Pugh" userId="b719bf3b684c7c9c" providerId="LiveId" clId="{87D1FD04-DD1D-41EC-BC84-E36A7C71EC3E}" dt="2026-09-11T18:31:40.842" v="2755" actId="1076"/>
          <ac:spMkLst>
            <pc:docMk/>
            <pc:sldMk cId="1789299423" sldId="260"/>
            <ac:spMk id="7" creationId="{0D3A39F4-A82B-1E5C-0E82-D5A120A1F9B8}"/>
          </ac:spMkLst>
        </pc:spChg>
        <pc:spChg chg="mod">
          <ac:chgData name="Jacob Pugh" userId="b719bf3b684c7c9c" providerId="LiveId" clId="{87D1FD04-DD1D-41EC-BC84-E36A7C71EC3E}" dt="2026-09-11T18:32:08.732" v="2756" actId="14100"/>
          <ac:spMkLst>
            <pc:docMk/>
            <pc:sldMk cId="1789299423" sldId="260"/>
            <ac:spMk id="8" creationId="{9E53B118-0140-78A8-E0B2-653C7C0DA553}"/>
          </ac:spMkLst>
        </pc:spChg>
        <pc:spChg chg="add del">
          <ac:chgData name="Jacob Pugh" userId="b719bf3b684c7c9c" providerId="LiveId" clId="{87D1FD04-DD1D-41EC-BC84-E36A7C71EC3E}" dt="2026-09-11T18:06:09.417" v="2305" actId="22"/>
          <ac:spMkLst>
            <pc:docMk/>
            <pc:sldMk cId="1789299423" sldId="260"/>
            <ac:spMk id="10" creationId="{7B729F23-6775-20D9-6EA1-053FC46CFBC3}"/>
          </ac:spMkLst>
        </pc:spChg>
        <pc:spChg chg="del">
          <ac:chgData name="Jacob Pugh" userId="b719bf3b684c7c9c" providerId="LiveId" clId="{87D1FD04-DD1D-41EC-BC84-E36A7C71EC3E}" dt="2026-09-11T17:52:54.596" v="2039" actId="478"/>
          <ac:spMkLst>
            <pc:docMk/>
            <pc:sldMk cId="1789299423" sldId="260"/>
            <ac:spMk id="14" creationId="{95437A51-130E-11F7-B3E2-FDF75B81D211}"/>
          </ac:spMkLst>
        </pc:spChg>
        <pc:spChg chg="add mod">
          <ac:chgData name="Jacob Pugh" userId="b719bf3b684c7c9c" providerId="LiveId" clId="{87D1FD04-DD1D-41EC-BC84-E36A7C71EC3E}" dt="2026-09-11T18:27:28.788" v="2750" actId="14100"/>
          <ac:spMkLst>
            <pc:docMk/>
            <pc:sldMk cId="1789299423" sldId="260"/>
            <ac:spMk id="18" creationId="{7EB089C9-5230-3F0C-8A5C-3A5022CF81AB}"/>
          </ac:spMkLst>
        </pc:spChg>
        <pc:spChg chg="mod">
          <ac:chgData name="Jacob Pugh" userId="b719bf3b684c7c9c" providerId="LiveId" clId="{87D1FD04-DD1D-41EC-BC84-E36A7C71EC3E}" dt="2026-09-11T18:08:32.782" v="2338" actId="1076"/>
          <ac:spMkLst>
            <pc:docMk/>
            <pc:sldMk cId="1789299423" sldId="260"/>
            <ac:spMk id="21" creationId="{2FE0E1BF-27DA-E898-6761-CC11A5308840}"/>
          </ac:spMkLst>
        </pc:spChg>
        <pc:spChg chg="mod">
          <ac:chgData name="Jacob Pugh" userId="b719bf3b684c7c9c" providerId="LiveId" clId="{87D1FD04-DD1D-41EC-BC84-E36A7C71EC3E}" dt="2026-09-11T17:51:40.719" v="2036" actId="20577"/>
          <ac:spMkLst>
            <pc:docMk/>
            <pc:sldMk cId="1789299423" sldId="260"/>
            <ac:spMk id="23" creationId="{02AB9F31-D933-7CB0-2070-2F37EAA40D02}"/>
          </ac:spMkLst>
        </pc:spChg>
        <pc:spChg chg="del">
          <ac:chgData name="Jacob Pugh" userId="b719bf3b684c7c9c" providerId="LiveId" clId="{87D1FD04-DD1D-41EC-BC84-E36A7C71EC3E}" dt="2026-09-11T17:52:54.596" v="2039" actId="478"/>
          <ac:spMkLst>
            <pc:docMk/>
            <pc:sldMk cId="1789299423" sldId="260"/>
            <ac:spMk id="24" creationId="{17CC4C9E-59B4-EC1F-1ABB-390C40ABC7B1}"/>
          </ac:spMkLst>
        </pc:spChg>
        <pc:spChg chg="del">
          <ac:chgData name="Jacob Pugh" userId="b719bf3b684c7c9c" providerId="LiveId" clId="{87D1FD04-DD1D-41EC-BC84-E36A7C71EC3E}" dt="2026-09-11T17:52:54.596" v="2039" actId="478"/>
          <ac:spMkLst>
            <pc:docMk/>
            <pc:sldMk cId="1789299423" sldId="260"/>
            <ac:spMk id="26" creationId="{3539C5BB-0B50-08DA-230E-3D0D8E9EFD41}"/>
          </ac:spMkLst>
        </pc:spChg>
        <pc:spChg chg="del">
          <ac:chgData name="Jacob Pugh" userId="b719bf3b684c7c9c" providerId="LiveId" clId="{87D1FD04-DD1D-41EC-BC84-E36A7C71EC3E}" dt="2026-09-11T17:52:49.347" v="2038" actId="478"/>
          <ac:spMkLst>
            <pc:docMk/>
            <pc:sldMk cId="1789299423" sldId="260"/>
            <ac:spMk id="28" creationId="{3D6FAEF4-5D7F-4D94-EE07-B2CE2C951EF0}"/>
          </ac:spMkLst>
        </pc:spChg>
        <pc:spChg chg="del">
          <ac:chgData name="Jacob Pugh" userId="b719bf3b684c7c9c" providerId="LiveId" clId="{87D1FD04-DD1D-41EC-BC84-E36A7C71EC3E}" dt="2026-09-11T17:52:54.596" v="2039" actId="478"/>
          <ac:spMkLst>
            <pc:docMk/>
            <pc:sldMk cId="1789299423" sldId="260"/>
            <ac:spMk id="30" creationId="{E3EC734E-3ADD-90FF-C2A7-2D4772A2D6CD}"/>
          </ac:spMkLst>
        </pc:spChg>
        <pc:spChg chg="del">
          <ac:chgData name="Jacob Pugh" userId="b719bf3b684c7c9c" providerId="LiveId" clId="{87D1FD04-DD1D-41EC-BC84-E36A7C71EC3E}" dt="2026-09-11T17:52:54.596" v="2039" actId="478"/>
          <ac:spMkLst>
            <pc:docMk/>
            <pc:sldMk cId="1789299423" sldId="260"/>
            <ac:spMk id="32" creationId="{F7B99CA5-6064-40AA-830F-82D12C390845}"/>
          </ac:spMkLst>
        </pc:spChg>
        <pc:spChg chg="del">
          <ac:chgData name="Jacob Pugh" userId="b719bf3b684c7c9c" providerId="LiveId" clId="{87D1FD04-DD1D-41EC-BC84-E36A7C71EC3E}" dt="2026-09-11T17:52:54.596" v="2039" actId="478"/>
          <ac:spMkLst>
            <pc:docMk/>
            <pc:sldMk cId="1789299423" sldId="260"/>
            <ac:spMk id="34" creationId="{FF97ED89-C6C2-9ED0-4EFD-01BBBAB1DFA1}"/>
          </ac:spMkLst>
        </pc:spChg>
        <pc:spChg chg="del">
          <ac:chgData name="Jacob Pugh" userId="b719bf3b684c7c9c" providerId="LiveId" clId="{87D1FD04-DD1D-41EC-BC84-E36A7C71EC3E}" dt="2026-09-11T17:52:54.596" v="2039" actId="478"/>
          <ac:spMkLst>
            <pc:docMk/>
            <pc:sldMk cId="1789299423" sldId="260"/>
            <ac:spMk id="36" creationId="{9F87D9FB-EC58-F102-63CC-988C478DA33A}"/>
          </ac:spMkLst>
        </pc:spChg>
        <pc:spChg chg="del">
          <ac:chgData name="Jacob Pugh" userId="b719bf3b684c7c9c" providerId="LiveId" clId="{87D1FD04-DD1D-41EC-BC84-E36A7C71EC3E}" dt="2026-09-11T17:52:54.596" v="2039" actId="478"/>
          <ac:spMkLst>
            <pc:docMk/>
            <pc:sldMk cId="1789299423" sldId="260"/>
            <ac:spMk id="38" creationId="{A4280457-6C0C-2227-E025-0342A0EFA860}"/>
          </ac:spMkLst>
        </pc:spChg>
        <pc:graphicFrameChg chg="add mod modGraphic">
          <ac:chgData name="Jacob Pugh" userId="b719bf3b684c7c9c" providerId="LiveId" clId="{87D1FD04-DD1D-41EC-BC84-E36A7C71EC3E}" dt="2026-09-11T23:19:25.973" v="3532" actId="113"/>
          <ac:graphicFrameMkLst>
            <pc:docMk/>
            <pc:sldMk cId="1789299423" sldId="260"/>
            <ac:graphicFrameMk id="16" creationId="{85E82C0E-4BC4-7650-80E2-C1E7B29B74A0}"/>
          </ac:graphicFrameMkLst>
        </pc:graphicFrameChg>
        <pc:graphicFrameChg chg="add mod modGraphic">
          <ac:chgData name="Jacob Pugh" userId="b719bf3b684c7c9c" providerId="LiveId" clId="{87D1FD04-DD1D-41EC-BC84-E36A7C71EC3E}" dt="2026-09-11T23:45:47.788" v="3838"/>
          <ac:graphicFrameMkLst>
            <pc:docMk/>
            <pc:sldMk cId="1789299423" sldId="260"/>
            <ac:graphicFrameMk id="20" creationId="{9F1F6D66-2D37-E4E5-9447-C288FE60603C}"/>
          </ac:graphicFrameMkLst>
        </pc:graphicFrameChg>
        <pc:cxnChg chg="del">
          <ac:chgData name="Jacob Pugh" userId="b719bf3b684c7c9c" providerId="LiveId" clId="{87D1FD04-DD1D-41EC-BC84-E36A7C71EC3E}" dt="2026-09-11T17:52:48.490" v="2037" actId="478"/>
          <ac:cxnSpMkLst>
            <pc:docMk/>
            <pc:sldMk cId="1789299423" sldId="260"/>
            <ac:cxnSpMk id="11" creationId="{F9ABE00C-4972-7034-958D-926F78A51881}"/>
          </ac:cxnSpMkLst>
        </pc:cxnChg>
        <pc:cxnChg chg="del">
          <ac:chgData name="Jacob Pugh" userId="b719bf3b684c7c9c" providerId="LiveId" clId="{87D1FD04-DD1D-41EC-BC84-E36A7C71EC3E}" dt="2026-09-11T17:52:54.596" v="2039" actId="478"/>
          <ac:cxnSpMkLst>
            <pc:docMk/>
            <pc:sldMk cId="1789299423" sldId="260"/>
            <ac:cxnSpMk id="12" creationId="{C70E0B3B-73CC-6037-5944-F0EB45D09922}"/>
          </ac:cxnSpMkLst>
        </pc:cxnChg>
        <pc:cxnChg chg="del">
          <ac:chgData name="Jacob Pugh" userId="b719bf3b684c7c9c" providerId="LiveId" clId="{87D1FD04-DD1D-41EC-BC84-E36A7C71EC3E}" dt="2026-09-11T17:52:54.596" v="2039" actId="478"/>
          <ac:cxnSpMkLst>
            <pc:docMk/>
            <pc:sldMk cId="1789299423" sldId="260"/>
            <ac:cxnSpMk id="13" creationId="{0D7D7E1D-AE21-E514-B45B-95A32C73F6F9}"/>
          </ac:cxnSpMkLst>
        </pc:cxnChg>
      </pc:sldChg>
      <pc:sldChg chg="addSp delSp modSp add mod">
        <pc:chgData name="Jacob Pugh" userId="b719bf3b684c7c9c" providerId="LiveId" clId="{87D1FD04-DD1D-41EC-BC84-E36A7C71EC3E}" dt="2026-09-11T23:44:25.294" v="3837" actId="27918"/>
        <pc:sldMkLst>
          <pc:docMk/>
          <pc:sldMk cId="3235620173" sldId="261"/>
        </pc:sldMkLst>
        <pc:spChg chg="add del">
          <ac:chgData name="Jacob Pugh" userId="b719bf3b684c7c9c" providerId="LiveId" clId="{87D1FD04-DD1D-41EC-BC84-E36A7C71EC3E}" dt="2026-09-11T18:43:04.783" v="2784" actId="478"/>
          <ac:spMkLst>
            <pc:docMk/>
            <pc:sldMk cId="3235620173" sldId="261"/>
            <ac:spMk id="3" creationId="{3D7057BF-476D-6CE2-69A8-24BEC2DE9F6C}"/>
          </ac:spMkLst>
        </pc:spChg>
        <pc:spChg chg="mod">
          <ac:chgData name="Jacob Pugh" userId="b719bf3b684c7c9c" providerId="LiveId" clId="{87D1FD04-DD1D-41EC-BC84-E36A7C71EC3E}" dt="2026-09-11T18:42:20.658" v="2778"/>
          <ac:spMkLst>
            <pc:docMk/>
            <pc:sldMk cId="3235620173" sldId="261"/>
            <ac:spMk id="4" creationId="{DC54BF4E-F1B5-8963-C8B9-5CF30436D4A6}"/>
          </ac:spMkLst>
        </pc:spChg>
        <pc:spChg chg="del">
          <ac:chgData name="Jacob Pugh" userId="b719bf3b684c7c9c" providerId="LiveId" clId="{87D1FD04-DD1D-41EC-BC84-E36A7C71EC3E}" dt="2026-09-11T18:51:31.898" v="2899" actId="478"/>
          <ac:spMkLst>
            <pc:docMk/>
            <pc:sldMk cId="3235620173" sldId="261"/>
            <ac:spMk id="6" creationId="{813D4C7F-048C-278E-88D1-482F77E1EBA7}"/>
          </ac:spMkLst>
        </pc:spChg>
        <pc:spChg chg="mod">
          <ac:chgData name="Jacob Pugh" userId="b719bf3b684c7c9c" providerId="LiveId" clId="{87D1FD04-DD1D-41EC-BC84-E36A7C71EC3E}" dt="2026-09-11T19:03:58.082" v="3117" actId="1076"/>
          <ac:spMkLst>
            <pc:docMk/>
            <pc:sldMk cId="3235620173" sldId="261"/>
            <ac:spMk id="7" creationId="{E4476219-9610-327E-41C0-3D281AE3C132}"/>
          </ac:spMkLst>
        </pc:spChg>
        <pc:spChg chg="add del">
          <ac:chgData name="Jacob Pugh" userId="b719bf3b684c7c9c" providerId="LiveId" clId="{87D1FD04-DD1D-41EC-BC84-E36A7C71EC3E}" dt="2026-09-11T18:42:45.535" v="2782" actId="478"/>
          <ac:spMkLst>
            <pc:docMk/>
            <pc:sldMk cId="3235620173" sldId="261"/>
            <ac:spMk id="8" creationId="{EEA89826-ECB9-9736-4818-E6C39A9876BA}"/>
          </ac:spMkLst>
        </pc:spChg>
        <pc:spChg chg="add del">
          <ac:chgData name="Jacob Pugh" userId="b719bf3b684c7c9c" providerId="LiveId" clId="{87D1FD04-DD1D-41EC-BC84-E36A7C71EC3E}" dt="2026-09-11T18:44:02.920" v="2786" actId="478"/>
          <ac:spMkLst>
            <pc:docMk/>
            <pc:sldMk cId="3235620173" sldId="261"/>
            <ac:spMk id="9" creationId="{DDC71348-E38B-F7DF-E6C4-A9697EFD284A}"/>
          </ac:spMkLst>
        </pc:spChg>
        <pc:spChg chg="add del">
          <ac:chgData name="Jacob Pugh" userId="b719bf3b684c7c9c" providerId="LiveId" clId="{87D1FD04-DD1D-41EC-BC84-E36A7C71EC3E}" dt="2026-09-11T18:43:06.459" v="2785" actId="478"/>
          <ac:spMkLst>
            <pc:docMk/>
            <pc:sldMk cId="3235620173" sldId="261"/>
            <ac:spMk id="11" creationId="{9A725DF5-647A-E67B-D23E-12D9D6C8A2FB}"/>
          </ac:spMkLst>
        </pc:spChg>
        <pc:spChg chg="add del">
          <ac:chgData name="Jacob Pugh" userId="b719bf3b684c7c9c" providerId="LiveId" clId="{87D1FD04-DD1D-41EC-BC84-E36A7C71EC3E}" dt="2026-09-11T18:44:02.920" v="2786" actId="478"/>
          <ac:spMkLst>
            <pc:docMk/>
            <pc:sldMk cId="3235620173" sldId="261"/>
            <ac:spMk id="13" creationId="{E48C02AF-8918-3A9B-3257-9D86BD61EE5E}"/>
          </ac:spMkLst>
        </pc:spChg>
        <pc:spChg chg="add del">
          <ac:chgData name="Jacob Pugh" userId="b719bf3b684c7c9c" providerId="LiveId" clId="{87D1FD04-DD1D-41EC-BC84-E36A7C71EC3E}" dt="2026-09-11T18:44:02.920" v="2786" actId="478"/>
          <ac:spMkLst>
            <pc:docMk/>
            <pc:sldMk cId="3235620173" sldId="261"/>
            <ac:spMk id="15" creationId="{3E97D3E8-C928-A33B-2A90-A3F7F56205B2}"/>
          </ac:spMkLst>
        </pc:spChg>
        <pc:spChg chg="del">
          <ac:chgData name="Jacob Pugh" userId="b719bf3b684c7c9c" providerId="LiveId" clId="{87D1FD04-DD1D-41EC-BC84-E36A7C71EC3E}" dt="2026-09-11T18:56:44.854" v="3011" actId="478"/>
          <ac:spMkLst>
            <pc:docMk/>
            <pc:sldMk cId="3235620173" sldId="261"/>
            <ac:spMk id="18" creationId="{BFCE85BC-5507-8F17-148C-A7BAC97C1DFC}"/>
          </ac:spMkLst>
        </pc:spChg>
        <pc:spChg chg="add mod">
          <ac:chgData name="Jacob Pugh" userId="b719bf3b684c7c9c" providerId="LiveId" clId="{87D1FD04-DD1D-41EC-BC84-E36A7C71EC3E}" dt="2026-09-11T18:47:03.820" v="2830" actId="554"/>
          <ac:spMkLst>
            <pc:docMk/>
            <pc:sldMk cId="3235620173" sldId="261"/>
            <ac:spMk id="19" creationId="{45F94E57-78DD-11BF-3BFC-68088A400251}"/>
          </ac:spMkLst>
        </pc:spChg>
        <pc:spChg chg="del">
          <ac:chgData name="Jacob Pugh" userId="b719bf3b684c7c9c" providerId="LiveId" clId="{87D1FD04-DD1D-41EC-BC84-E36A7C71EC3E}" dt="2026-09-11T18:57:54.169" v="3013" actId="478"/>
          <ac:spMkLst>
            <pc:docMk/>
            <pc:sldMk cId="3235620173" sldId="261"/>
            <ac:spMk id="21" creationId="{17A38877-EFF1-A278-D0BC-FC87401B7A64}"/>
          </ac:spMkLst>
        </pc:spChg>
        <pc:spChg chg="mod">
          <ac:chgData name="Jacob Pugh" userId="b719bf3b684c7c9c" providerId="LiveId" clId="{87D1FD04-DD1D-41EC-BC84-E36A7C71EC3E}" dt="2026-09-11T19:03:58.082" v="3117" actId="1076"/>
          <ac:spMkLst>
            <pc:docMk/>
            <pc:sldMk cId="3235620173" sldId="261"/>
            <ac:spMk id="23" creationId="{7435BAD8-86BE-D332-1236-C7BF79D0A138}"/>
          </ac:spMkLst>
        </pc:spChg>
        <pc:spChg chg="add mod">
          <ac:chgData name="Jacob Pugh" userId="b719bf3b684c7c9c" providerId="LiveId" clId="{87D1FD04-DD1D-41EC-BC84-E36A7C71EC3E}" dt="2026-09-11T18:48:13.117" v="2868"/>
          <ac:spMkLst>
            <pc:docMk/>
            <pc:sldMk cId="3235620173" sldId="261"/>
            <ac:spMk id="25" creationId="{981118CE-152F-56F4-3A55-29E3D9B80FCD}"/>
          </ac:spMkLst>
        </pc:spChg>
        <pc:spChg chg="add mod">
          <ac:chgData name="Jacob Pugh" userId="b719bf3b684c7c9c" providerId="LiveId" clId="{87D1FD04-DD1D-41EC-BC84-E36A7C71EC3E}" dt="2026-09-11T18:49:21.538" v="2898" actId="1076"/>
          <ac:spMkLst>
            <pc:docMk/>
            <pc:sldMk cId="3235620173" sldId="261"/>
            <ac:spMk id="27" creationId="{1004966F-0AF5-EF3F-6773-BF3C68C6B57A}"/>
          </ac:spMkLst>
        </pc:spChg>
        <pc:spChg chg="add mod ord">
          <ac:chgData name="Jacob Pugh" userId="b719bf3b684c7c9c" providerId="LiveId" clId="{87D1FD04-DD1D-41EC-BC84-E36A7C71EC3E}" dt="2026-09-11T19:05:47.862" v="3164" actId="20577"/>
          <ac:spMkLst>
            <pc:docMk/>
            <pc:sldMk cId="3235620173" sldId="261"/>
            <ac:spMk id="31" creationId="{6702A7BA-6BDE-A87C-D135-6ACEEECEE7FB}"/>
          </ac:spMkLst>
        </pc:spChg>
        <pc:spChg chg="add mod">
          <ac:chgData name="Jacob Pugh" userId="b719bf3b684c7c9c" providerId="LiveId" clId="{87D1FD04-DD1D-41EC-BC84-E36A7C71EC3E}" dt="2026-09-11T22:45:21.585" v="3219" actId="20577"/>
          <ac:spMkLst>
            <pc:docMk/>
            <pc:sldMk cId="3235620173" sldId="261"/>
            <ac:spMk id="39" creationId="{9FD843DB-5F94-BDA8-6CCF-439E747CE1E4}"/>
          </ac:spMkLst>
        </pc:spChg>
        <pc:graphicFrameChg chg="mod modGraphic">
          <ac:chgData name="Jacob Pugh" userId="b719bf3b684c7c9c" providerId="LiveId" clId="{87D1FD04-DD1D-41EC-BC84-E36A7C71EC3E}" dt="2026-09-11T19:06:22.062" v="3169" actId="1076"/>
          <ac:graphicFrameMkLst>
            <pc:docMk/>
            <pc:sldMk cId="3235620173" sldId="261"/>
            <ac:graphicFrameMk id="16" creationId="{6A7E93FC-FB25-1436-770C-539D449A5950}"/>
          </ac:graphicFrameMkLst>
        </pc:graphicFrameChg>
        <pc:graphicFrameChg chg="del">
          <ac:chgData name="Jacob Pugh" userId="b719bf3b684c7c9c" providerId="LiveId" clId="{87D1FD04-DD1D-41EC-BC84-E36A7C71EC3E}" dt="2026-09-11T18:42:42.036" v="2781" actId="478"/>
          <ac:graphicFrameMkLst>
            <pc:docMk/>
            <pc:sldMk cId="3235620173" sldId="261"/>
            <ac:graphicFrameMk id="20" creationId="{D2A9C494-280D-B329-0E55-7D7F6A1640FE}"/>
          </ac:graphicFrameMkLst>
        </pc:graphicFrameChg>
        <pc:graphicFrameChg chg="add del mod modGraphic">
          <ac:chgData name="Jacob Pugh" userId="b719bf3b684c7c9c" providerId="LiveId" clId="{87D1FD04-DD1D-41EC-BC84-E36A7C71EC3E}" dt="2026-09-11T19:03:58.082" v="3117" actId="1076"/>
          <ac:graphicFrameMkLst>
            <pc:docMk/>
            <pc:sldMk cId="3235620173" sldId="261"/>
            <ac:graphicFrameMk id="29" creationId="{002BB12A-99BB-1C84-C024-340EFFB6581C}"/>
          </ac:graphicFrameMkLst>
        </pc:graphicFrameChg>
        <pc:graphicFrameChg chg="add mod">
          <ac:chgData name="Jacob Pugh" userId="b719bf3b684c7c9c" providerId="LiveId" clId="{87D1FD04-DD1D-41EC-BC84-E36A7C71EC3E}" dt="2026-09-11T19:08:11.384" v="3171" actId="1957"/>
          <ac:graphicFrameMkLst>
            <pc:docMk/>
            <pc:sldMk cId="3235620173" sldId="261"/>
            <ac:graphicFrameMk id="34" creationId="{62FC3EFB-A9F3-1D7F-5DBF-83CFCE91E78C}"/>
          </ac:graphicFrameMkLst>
        </pc:graphicFrameChg>
        <pc:graphicFrameChg chg="add mod">
          <ac:chgData name="Jacob Pugh" userId="b719bf3b684c7c9c" providerId="LiveId" clId="{87D1FD04-DD1D-41EC-BC84-E36A7C71EC3E}" dt="2026-09-11T22:39:38.871" v="3216" actId="2711"/>
          <ac:graphicFrameMkLst>
            <pc:docMk/>
            <pc:sldMk cId="3235620173" sldId="261"/>
            <ac:graphicFrameMk id="37" creationId="{1440DCEB-9270-CEFB-5FF7-34E15E8BAB1E}"/>
          </ac:graphicFrameMkLst>
        </pc:graphicFrameChg>
      </pc:sldChg>
      <pc:sldChg chg="addSp delSp modSp add mod ord">
        <pc:chgData name="Jacob Pugh" userId="b719bf3b684c7c9c" providerId="LiveId" clId="{87D1FD04-DD1D-41EC-BC84-E36A7C71EC3E}" dt="2026-09-11T23:47:47.150" v="3844" actId="20577"/>
        <pc:sldMkLst>
          <pc:docMk/>
          <pc:sldMk cId="3942901546" sldId="262"/>
        </pc:sldMkLst>
        <pc:spChg chg="del">
          <ac:chgData name="Jacob Pugh" userId="b719bf3b684c7c9c" providerId="LiveId" clId="{87D1FD04-DD1D-41EC-BC84-E36A7C71EC3E}" dt="2026-09-11T22:59:58.264" v="3223" actId="478"/>
          <ac:spMkLst>
            <pc:docMk/>
            <pc:sldMk cId="3942901546" sldId="262"/>
            <ac:spMk id="3" creationId="{173B29D1-FA65-7662-7505-8915C2D8E4D1}"/>
          </ac:spMkLst>
        </pc:spChg>
        <pc:spChg chg="mod">
          <ac:chgData name="Jacob Pugh" userId="b719bf3b684c7c9c" providerId="LiveId" clId="{87D1FD04-DD1D-41EC-BC84-E36A7C71EC3E}" dt="2026-09-11T23:03:30.681" v="3225"/>
          <ac:spMkLst>
            <pc:docMk/>
            <pc:sldMk cId="3942901546" sldId="262"/>
            <ac:spMk id="4" creationId="{FA4700DC-C955-630E-F9F4-5A6B0231E4F3}"/>
          </ac:spMkLst>
        </pc:spChg>
        <pc:spChg chg="add mod">
          <ac:chgData name="Jacob Pugh" userId="b719bf3b684c7c9c" providerId="LiveId" clId="{87D1FD04-DD1D-41EC-BC84-E36A7C71EC3E}" dt="2026-09-11T23:35:08.304" v="3779" actId="1076"/>
          <ac:spMkLst>
            <pc:docMk/>
            <pc:sldMk cId="3942901546" sldId="262"/>
            <ac:spMk id="5" creationId="{1648644D-C96C-EA6B-89EC-9DFE91088DB6}"/>
          </ac:spMkLst>
        </pc:spChg>
        <pc:spChg chg="mod">
          <ac:chgData name="Jacob Pugh" userId="b719bf3b684c7c9c" providerId="LiveId" clId="{87D1FD04-DD1D-41EC-BC84-E36A7C71EC3E}" dt="2026-09-11T23:35:19.192" v="3782" actId="20577"/>
          <ac:spMkLst>
            <pc:docMk/>
            <pc:sldMk cId="3942901546" sldId="262"/>
            <ac:spMk id="6" creationId="{AF10AB53-870C-7511-E458-41AC48EC1E45}"/>
          </ac:spMkLst>
        </pc:spChg>
        <pc:spChg chg="mod">
          <ac:chgData name="Jacob Pugh" userId="b719bf3b684c7c9c" providerId="LiveId" clId="{87D1FD04-DD1D-41EC-BC84-E36A7C71EC3E}" dt="2026-09-11T23:34:23.071" v="3773" actId="14100"/>
          <ac:spMkLst>
            <pc:docMk/>
            <pc:sldMk cId="3942901546" sldId="262"/>
            <ac:spMk id="10" creationId="{CF7D2FB5-8D7A-C4BB-97A7-09345C1762DB}"/>
          </ac:spMkLst>
        </pc:spChg>
        <pc:spChg chg="del">
          <ac:chgData name="Jacob Pugh" userId="b719bf3b684c7c9c" providerId="LiveId" clId="{87D1FD04-DD1D-41EC-BC84-E36A7C71EC3E}" dt="2026-09-11T23:00:26.597" v="3224" actId="478"/>
          <ac:spMkLst>
            <pc:docMk/>
            <pc:sldMk cId="3942901546" sldId="262"/>
            <ac:spMk id="16" creationId="{9EB195A6-2C62-1833-5B50-CE4D24D2FAFE}"/>
          </ac:spMkLst>
        </pc:spChg>
        <pc:spChg chg="del mod">
          <ac:chgData name="Jacob Pugh" userId="b719bf3b684c7c9c" providerId="LiveId" clId="{87D1FD04-DD1D-41EC-BC84-E36A7C71EC3E}" dt="2026-09-11T23:16:42.853" v="3492" actId="478"/>
          <ac:spMkLst>
            <pc:docMk/>
            <pc:sldMk cId="3942901546" sldId="262"/>
            <ac:spMk id="21" creationId="{4E2534F2-C555-1EA1-489C-6DF886C86078}"/>
          </ac:spMkLst>
        </pc:spChg>
        <pc:spChg chg="mod">
          <ac:chgData name="Jacob Pugh" userId="b719bf3b684c7c9c" providerId="LiveId" clId="{87D1FD04-DD1D-41EC-BC84-E36A7C71EC3E}" dt="2026-09-11T23:47:47.150" v="3844" actId="20577"/>
          <ac:spMkLst>
            <pc:docMk/>
            <pc:sldMk cId="3942901546" sldId="262"/>
            <ac:spMk id="23" creationId="{91E59430-1B96-112F-DCE1-7F81F4801802}"/>
          </ac:spMkLst>
        </pc:spChg>
        <pc:graphicFrameChg chg="add mod">
          <ac:chgData name="Jacob Pugh" userId="b719bf3b684c7c9c" providerId="LiveId" clId="{87D1FD04-DD1D-41EC-BC84-E36A7C71EC3E}" dt="2026-09-11T23:42:17.886" v="3827"/>
          <ac:graphicFrameMkLst>
            <pc:docMk/>
            <pc:sldMk cId="3942901546" sldId="262"/>
            <ac:graphicFrameMk id="9" creationId="{A80A850E-5505-5E7A-5D7E-A5BC35D2E142}"/>
          </ac:graphicFrameMkLst>
        </pc:graphicFrameChg>
        <pc:graphicFrameChg chg="add mod modGraphic">
          <ac:chgData name="Jacob Pugh" userId="b719bf3b684c7c9c" providerId="LiveId" clId="{87D1FD04-DD1D-41EC-BC84-E36A7C71EC3E}" dt="2026-09-11T23:35:08.304" v="3779" actId="1076"/>
          <ac:graphicFrameMkLst>
            <pc:docMk/>
            <pc:sldMk cId="3942901546" sldId="262"/>
            <ac:graphicFrameMk id="12" creationId="{BC27B131-5BC6-2E84-0397-790442EB9902}"/>
          </ac:graphicFrameMkLst>
        </pc:graphicFrameChg>
      </pc:sldChg>
      <pc:sldChg chg="addSp delSp modSp add mod ord">
        <pc:chgData name="Jacob Pugh" userId="b719bf3b684c7c9c" providerId="LiveId" clId="{87D1FD04-DD1D-41EC-BC84-E36A7C71EC3E}" dt="2026-09-12T11:04:26.374" v="4559" actId="20577"/>
        <pc:sldMkLst>
          <pc:docMk/>
          <pc:sldMk cId="1774412032" sldId="263"/>
        </pc:sldMkLst>
        <pc:spChg chg="del">
          <ac:chgData name="Jacob Pugh" userId="b719bf3b684c7c9c" providerId="LiveId" clId="{87D1FD04-DD1D-41EC-BC84-E36A7C71EC3E}" dt="2026-09-12T10:33:08.567" v="4070" actId="478"/>
          <ac:spMkLst>
            <pc:docMk/>
            <pc:sldMk cId="1774412032" sldId="263"/>
            <ac:spMk id="3" creationId="{5813629C-BEF8-3EB0-DF8A-482826FC7F77}"/>
          </ac:spMkLst>
        </pc:spChg>
        <pc:spChg chg="mod">
          <ac:chgData name="Jacob Pugh" userId="b719bf3b684c7c9c" providerId="LiveId" clId="{87D1FD04-DD1D-41EC-BC84-E36A7C71EC3E}" dt="2026-09-12T10:20:25.705" v="3849"/>
          <ac:spMkLst>
            <pc:docMk/>
            <pc:sldMk cId="1774412032" sldId="263"/>
            <ac:spMk id="4" creationId="{778B75D3-459F-F88A-E6FD-EFE33403B412}"/>
          </ac:spMkLst>
        </pc:spChg>
        <pc:spChg chg="mod">
          <ac:chgData name="Jacob Pugh" userId="b719bf3b684c7c9c" providerId="LiveId" clId="{87D1FD04-DD1D-41EC-BC84-E36A7C71EC3E}" dt="2026-09-12T10:59:46.090" v="4512" actId="14100"/>
          <ac:spMkLst>
            <pc:docMk/>
            <pc:sldMk cId="1774412032" sldId="263"/>
            <ac:spMk id="6" creationId="{6AAE108E-9650-DE18-9345-3D0921C73FCD}"/>
          </ac:spMkLst>
        </pc:spChg>
        <pc:spChg chg="add mod">
          <ac:chgData name="Jacob Pugh" userId="b719bf3b684c7c9c" providerId="LiveId" clId="{87D1FD04-DD1D-41EC-BC84-E36A7C71EC3E}" dt="2026-09-12T10:59:46.090" v="4512" actId="14100"/>
          <ac:spMkLst>
            <pc:docMk/>
            <pc:sldMk cId="1774412032" sldId="263"/>
            <ac:spMk id="8" creationId="{E1C81DE1-D63A-3F06-6927-9E0A1FFEE64E}"/>
          </ac:spMkLst>
        </pc:spChg>
        <pc:spChg chg="del">
          <ac:chgData name="Jacob Pugh" userId="b719bf3b684c7c9c" providerId="LiveId" clId="{87D1FD04-DD1D-41EC-BC84-E36A7C71EC3E}" dt="2026-09-12T10:32:24.054" v="4056" actId="478"/>
          <ac:spMkLst>
            <pc:docMk/>
            <pc:sldMk cId="1774412032" sldId="263"/>
            <ac:spMk id="10" creationId="{100B3E81-8364-0B2C-41AD-6EB911670849}"/>
          </ac:spMkLst>
        </pc:spChg>
        <pc:spChg chg="add mod">
          <ac:chgData name="Jacob Pugh" userId="b719bf3b684c7c9c" providerId="LiveId" clId="{87D1FD04-DD1D-41EC-BC84-E36A7C71EC3E}" dt="2026-09-12T10:59:58.155" v="4513" actId="408"/>
          <ac:spMkLst>
            <pc:docMk/>
            <pc:sldMk cId="1774412032" sldId="263"/>
            <ac:spMk id="11" creationId="{A17978F3-30BE-8BA7-A707-3F34AC035877}"/>
          </ac:spMkLst>
        </pc:spChg>
        <pc:spChg chg="add del mod">
          <ac:chgData name="Jacob Pugh" userId="b719bf3b684c7c9c" providerId="LiveId" clId="{87D1FD04-DD1D-41EC-BC84-E36A7C71EC3E}" dt="2026-09-12T10:37:40.221" v="4164" actId="478"/>
          <ac:spMkLst>
            <pc:docMk/>
            <pc:sldMk cId="1774412032" sldId="263"/>
            <ac:spMk id="13" creationId="{A1513A53-913C-6A9E-BB71-838DE9882517}"/>
          </ac:spMkLst>
        </pc:spChg>
        <pc:spChg chg="add mod">
          <ac:chgData name="Jacob Pugh" userId="b719bf3b684c7c9c" providerId="LiveId" clId="{87D1FD04-DD1D-41EC-BC84-E36A7C71EC3E}" dt="2026-09-12T11:01:40.726" v="4518" actId="555"/>
          <ac:spMkLst>
            <pc:docMk/>
            <pc:sldMk cId="1774412032" sldId="263"/>
            <ac:spMk id="15" creationId="{49EA0A50-0543-F7A5-9570-398FF44EB574}"/>
          </ac:spMkLst>
        </pc:spChg>
        <pc:spChg chg="mod">
          <ac:chgData name="Jacob Pugh" userId="b719bf3b684c7c9c" providerId="LiveId" clId="{87D1FD04-DD1D-41EC-BC84-E36A7C71EC3E}" dt="2026-09-12T10:57:08.835" v="4501" actId="14100"/>
          <ac:spMkLst>
            <pc:docMk/>
            <pc:sldMk cId="1774412032" sldId="263"/>
            <ac:spMk id="16" creationId="{6BE143E8-CC12-5D44-F6FC-E9F389766722}"/>
          </ac:spMkLst>
        </pc:spChg>
        <pc:spChg chg="add mod">
          <ac:chgData name="Jacob Pugh" userId="b719bf3b684c7c9c" providerId="LiveId" clId="{87D1FD04-DD1D-41EC-BC84-E36A7C71EC3E}" dt="2026-09-12T11:02:08.323" v="4530" actId="403"/>
          <ac:spMkLst>
            <pc:docMk/>
            <pc:sldMk cId="1774412032" sldId="263"/>
            <ac:spMk id="18" creationId="{2735D8AF-D42A-D3C4-FA80-CA8AEDA0D84A}"/>
          </ac:spMkLst>
        </pc:spChg>
        <pc:spChg chg="add mod">
          <ac:chgData name="Jacob Pugh" userId="b719bf3b684c7c9c" providerId="LiveId" clId="{87D1FD04-DD1D-41EC-BC84-E36A7C71EC3E}" dt="2026-09-12T11:02:24.040" v="4540" actId="404"/>
          <ac:spMkLst>
            <pc:docMk/>
            <pc:sldMk cId="1774412032" sldId="263"/>
            <ac:spMk id="20" creationId="{F7AE45E6-6AB0-0789-F6B7-F7E8514BADB3}"/>
          </ac:spMkLst>
        </pc:spChg>
        <pc:spChg chg="mod">
          <ac:chgData name="Jacob Pugh" userId="b719bf3b684c7c9c" providerId="LiveId" clId="{87D1FD04-DD1D-41EC-BC84-E36A7C71EC3E}" dt="2026-09-12T11:04:16.326" v="4546" actId="20577"/>
          <ac:spMkLst>
            <pc:docMk/>
            <pc:sldMk cId="1774412032" sldId="263"/>
            <ac:spMk id="21" creationId="{6E3AF94F-6DA3-98D2-5D6E-722F974801F2}"/>
          </ac:spMkLst>
        </pc:spChg>
        <pc:spChg chg="mod">
          <ac:chgData name="Jacob Pugh" userId="b719bf3b684c7c9c" providerId="LiveId" clId="{87D1FD04-DD1D-41EC-BC84-E36A7C71EC3E}" dt="2026-09-12T10:19:58.745" v="3848" actId="20577"/>
          <ac:spMkLst>
            <pc:docMk/>
            <pc:sldMk cId="1774412032" sldId="263"/>
            <ac:spMk id="23" creationId="{70CD4A5A-D332-A5EC-7C44-F35DB23B746E}"/>
          </ac:spMkLst>
        </pc:spChg>
        <pc:graphicFrameChg chg="add mod modGraphic">
          <ac:chgData name="Jacob Pugh" userId="b719bf3b684c7c9c" providerId="LiveId" clId="{87D1FD04-DD1D-41EC-BC84-E36A7C71EC3E}" dt="2026-09-12T11:04:26.374" v="4559" actId="20577"/>
          <ac:graphicFrameMkLst>
            <pc:docMk/>
            <pc:sldMk cId="1774412032" sldId="263"/>
            <ac:graphicFrameMk id="5" creationId="{9F92165D-EFE7-96AB-B946-F49998144569}"/>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1.xlsx"/></Relationships>
</file>

<file path=ppt/charts/_rels/chartEx2.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chemeClr val="accent1"/>
            </a:solidFill>
            <a:ln>
              <a:noFill/>
            </a:ln>
            <a:effectLst/>
          </c:spPr>
          <c:invertIfNegative val="0"/>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Arial Bold" panose="020B0704020202020204" pitchFamily="34" charset="0"/>
                    <a:ea typeface="+mn-ea"/>
                    <a:cs typeface="Arial Bold" panose="020B07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Poundland</c:v>
                </c:pt>
                <c:pt idx="1">
                  <c:v>Peer Median</c:v>
                </c:pt>
              </c:strCache>
            </c:strRef>
          </c:cat>
          <c:val>
            <c:numRef>
              <c:f>Sheet1!$B$2:$B$3</c:f>
              <c:numCache>
                <c:formatCode>General</c:formatCode>
                <c:ptCount val="2"/>
                <c:pt idx="0">
                  <c:v>8.43</c:v>
                </c:pt>
                <c:pt idx="1">
                  <c:v>8.08</c:v>
                </c:pt>
              </c:numCache>
            </c:numRef>
          </c:val>
          <c:extLst>
            <c:ext xmlns:c16="http://schemas.microsoft.com/office/drawing/2014/chart" uri="{C3380CC4-5D6E-409C-BE32-E72D297353CC}">
              <c16:uniqueId val="{00000000-648F-4969-B26A-986745FD367E}"/>
            </c:ext>
          </c:extLst>
        </c:ser>
        <c:dLbls>
          <c:dLblPos val="outEnd"/>
          <c:showLegendKey val="0"/>
          <c:showVal val="1"/>
          <c:showCatName val="0"/>
          <c:showSerName val="0"/>
          <c:showPercent val="0"/>
          <c:showBubbleSize val="0"/>
        </c:dLbls>
        <c:gapWidth val="50"/>
        <c:axId val="561539600"/>
        <c:axId val="561548240"/>
      </c:barChart>
      <c:catAx>
        <c:axId val="561539600"/>
        <c:scaling>
          <c:orientation val="minMax"/>
        </c:scaling>
        <c:delete val="1"/>
        <c:axPos val="l"/>
        <c:numFmt formatCode="General" sourceLinked="1"/>
        <c:majorTickMark val="none"/>
        <c:minorTickMark val="none"/>
        <c:tickLblPos val="nextTo"/>
        <c:crossAx val="561548240"/>
        <c:crosses val="autoZero"/>
        <c:auto val="1"/>
        <c:lblAlgn val="ctr"/>
        <c:lblOffset val="100"/>
        <c:noMultiLvlLbl val="0"/>
      </c:catAx>
      <c:valAx>
        <c:axId val="561548240"/>
        <c:scaling>
          <c:orientation val="minMax"/>
        </c:scaling>
        <c:delete val="1"/>
        <c:axPos val="b"/>
        <c:numFmt formatCode="General" sourceLinked="1"/>
        <c:majorTickMark val="none"/>
        <c:minorTickMark val="none"/>
        <c:tickLblPos val="nextTo"/>
        <c:crossAx val="5615396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rgbClr val="142A43"/>
              </a:solidFill>
              <a:latin typeface="Arial Bold" panose="020B0704020202020204" pitchFamily="34" charset="0"/>
              <a:ea typeface="+mn-ea"/>
              <a:cs typeface="Arial Bold" panose="020B0704020202020204" pitchFamily="34" charset="0"/>
            </a:defRPr>
          </a:pPr>
          <a:endParaRPr lang="en-US"/>
        </a:p>
      </c:txPr>
    </c:title>
    <c:autoTitleDeleted val="0"/>
    <c:plotArea>
      <c:layout/>
      <c:lineChart>
        <c:grouping val="standard"/>
        <c:varyColors val="0"/>
        <c:ser>
          <c:idx val="0"/>
          <c:order val="0"/>
          <c:tx>
            <c:strRef>
              <c:f>Sheet1!$B$1</c:f>
              <c:strCache>
                <c:ptCount val="1"/>
                <c:pt idx="0">
                  <c:v>EPS accretion / (Dilution)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FY26E</c:v>
                </c:pt>
                <c:pt idx="1">
                  <c:v>FY27E</c:v>
                </c:pt>
                <c:pt idx="2">
                  <c:v>FY28E</c:v>
                </c:pt>
                <c:pt idx="3">
                  <c:v>FY29E</c:v>
                </c:pt>
                <c:pt idx="4">
                  <c:v>FY30E</c:v>
                </c:pt>
              </c:strCache>
            </c:strRef>
          </c:cat>
          <c:val>
            <c:numRef>
              <c:f>Sheet1!$B$2:$B$6</c:f>
              <c:numCache>
                <c:formatCode>General</c:formatCode>
                <c:ptCount val="5"/>
                <c:pt idx="0">
                  <c:v>-0.123</c:v>
                </c:pt>
                <c:pt idx="1">
                  <c:v>-6.4000000000000001E-2</c:v>
                </c:pt>
                <c:pt idx="2">
                  <c:v>3.5000000000000003E-2</c:v>
                </c:pt>
                <c:pt idx="3">
                  <c:v>0.222</c:v>
                </c:pt>
                <c:pt idx="4">
                  <c:v>0.31</c:v>
                </c:pt>
              </c:numCache>
            </c:numRef>
          </c:val>
          <c:smooth val="0"/>
          <c:extLst>
            <c:ext xmlns:c16="http://schemas.microsoft.com/office/drawing/2014/chart" uri="{C3380CC4-5D6E-409C-BE32-E72D297353CC}">
              <c16:uniqueId val="{00000000-F2EE-4557-B1C6-4D31F3E9EB01}"/>
            </c:ext>
          </c:extLst>
        </c:ser>
        <c:dLbls>
          <c:dLblPos val="t"/>
          <c:showLegendKey val="0"/>
          <c:showVal val="1"/>
          <c:showCatName val="0"/>
          <c:showSerName val="0"/>
          <c:showPercent val="0"/>
          <c:showBubbleSize val="0"/>
        </c:dLbls>
        <c:marker val="1"/>
        <c:smooth val="0"/>
        <c:axId val="1521042896"/>
        <c:axId val="1521044336"/>
      </c:lineChart>
      <c:catAx>
        <c:axId val="15210428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521044336"/>
        <c:crosses val="autoZero"/>
        <c:auto val="1"/>
        <c:lblAlgn val="ctr"/>
        <c:lblOffset val="1000"/>
        <c:noMultiLvlLbl val="0"/>
      </c:catAx>
      <c:valAx>
        <c:axId val="1521044336"/>
        <c:scaling>
          <c:orientation val="minMax"/>
          <c:min val="-0.15000000000000002"/>
        </c:scaling>
        <c:delete val="0"/>
        <c:axPos val="l"/>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210428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729700153206397E-2"/>
          <c:y val="5.4535886721507047E-2"/>
          <c:w val="0.81282502900901721"/>
          <c:h val="0.80365480228106012"/>
        </c:manualLayout>
      </c:layout>
      <c:barChart>
        <c:barDir val="bar"/>
        <c:grouping val="clustered"/>
        <c:varyColors val="0"/>
        <c:ser>
          <c:idx val="0"/>
          <c:order val="0"/>
          <c:tx>
            <c:strRef>
              <c:f>Sheet1!$B$1</c:f>
              <c:strCache>
                <c:ptCount val="1"/>
                <c:pt idx="0">
                  <c:v>Value Creation (£m)</c:v>
                </c:pt>
              </c:strCache>
            </c:strRef>
          </c:tx>
          <c:spPr>
            <a:solidFill>
              <a:schemeClr val="accent1"/>
            </a:solidFill>
            <a:ln>
              <a:noFill/>
            </a:ln>
            <a:effectLst/>
          </c:spPr>
          <c:invertIfNegative val="0"/>
          <c:dLbls>
            <c:numFmt formatCode="&quot;£&quot;#,##0.00" sourceLinked="0"/>
            <c:spPr>
              <a:noFill/>
              <a:ln>
                <a:noFill/>
              </a:ln>
              <a:effectLst/>
            </c:spPr>
            <c:txPr>
              <a:bodyPr rot="0" spcFirstLastPara="1" vertOverflow="ellipsis" vert="horz" wrap="square" lIns="39600" tIns="19050" rIns="38100" bIns="19050" anchor="ctr" anchorCtr="1">
                <a:spAutoFit/>
              </a:bodyPr>
              <a:lstStyle/>
              <a:p>
                <a:pPr>
                  <a:defRPr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Sheet1!$A$2:$A$8</c:f>
              <c:numCache>
                <c:formatCode>0%</c:formatCode>
                <c:ptCount val="7"/>
                <c:pt idx="0">
                  <c:v>0</c:v>
                </c:pt>
                <c:pt idx="1">
                  <c:v>0.05</c:v>
                </c:pt>
                <c:pt idx="2">
                  <c:v>0.1</c:v>
                </c:pt>
                <c:pt idx="3">
                  <c:v>0.15</c:v>
                </c:pt>
                <c:pt idx="4">
                  <c:v>0.2</c:v>
                </c:pt>
                <c:pt idx="5">
                  <c:v>0.25</c:v>
                </c:pt>
                <c:pt idx="6">
                  <c:v>0.3</c:v>
                </c:pt>
              </c:numCache>
            </c:numRef>
          </c:cat>
          <c:val>
            <c:numRef>
              <c:f>Sheet1!$B$2:$B$8</c:f>
              <c:numCache>
                <c:formatCode>General</c:formatCode>
                <c:ptCount val="7"/>
                <c:pt idx="0">
                  <c:v>68.5</c:v>
                </c:pt>
                <c:pt idx="1">
                  <c:v>51.5</c:v>
                </c:pt>
                <c:pt idx="2">
                  <c:v>34.4</c:v>
                </c:pt>
                <c:pt idx="3">
                  <c:v>17.399999999999999</c:v>
                </c:pt>
                <c:pt idx="4">
                  <c:v>0.3</c:v>
                </c:pt>
                <c:pt idx="5">
                  <c:v>-16.8</c:v>
                </c:pt>
                <c:pt idx="6">
                  <c:v>-33.799999999999997</c:v>
                </c:pt>
              </c:numCache>
            </c:numRef>
          </c:val>
          <c:extLst>
            <c:ext xmlns:c16="http://schemas.microsoft.com/office/drawing/2014/chart" uri="{C3380CC4-5D6E-409C-BE32-E72D297353CC}">
              <c16:uniqueId val="{00000000-15AA-4E43-8646-9C7AF3335B08}"/>
            </c:ext>
          </c:extLst>
        </c:ser>
        <c:dLbls>
          <c:showLegendKey val="0"/>
          <c:showVal val="0"/>
          <c:showCatName val="0"/>
          <c:showSerName val="0"/>
          <c:showPercent val="0"/>
          <c:showBubbleSize val="0"/>
        </c:dLbls>
        <c:gapWidth val="182"/>
        <c:axId val="1584169232"/>
        <c:axId val="247223808"/>
      </c:barChart>
      <c:catAx>
        <c:axId val="1584169232"/>
        <c:scaling>
          <c:orientation val="minMax"/>
        </c:scaling>
        <c:delete val="0"/>
        <c:axPos val="l"/>
        <c:numFmt formatCode="0%"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47223808"/>
        <c:crosses val="autoZero"/>
        <c:auto val="1"/>
        <c:lblAlgn val="ctr"/>
        <c:lblOffset val="0"/>
        <c:noMultiLvlLbl val="0"/>
      </c:catAx>
      <c:valAx>
        <c:axId val="247223808"/>
        <c:scaling>
          <c:orientation val="minMax"/>
          <c:max val="70"/>
        </c:scaling>
        <c:delete val="0"/>
        <c:axPos val="b"/>
        <c:numFmt formatCode="&quot;£&quot;#,##0.0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5841692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Standalone Equity Value</cx:pt>
          <cx:pt idx="1">15% Premium</cx:pt>
          <cx:pt idx="2">Target Net Debt</cx:pt>
          <cx:pt idx="3">Transaction EV</cx:pt>
        </cx:lvl>
      </cx:strDim>
      <cx:numDim type="val">
        <cx:f>Sheet1!$B$2:$B$5</cx:f>
        <cx:lvl ptCount="4" formatCode="General">
          <cx:pt idx="0">336.39999999999998</cx:pt>
          <cx:pt idx="1">50.5</cx:pt>
          <cx:pt idx="2">47.5</cx:pt>
          <cx:pt idx="3">434.30000000000001</cx:pt>
        </cx:lvl>
      </cx:numDim>
    </cx:data>
  </cx:chartData>
  <cx:chart>
    <cx:plotArea>
      <cx:plotAreaRegion>
        <cx:series layoutId="waterfall" uniqueId="{E3CF2C51-E2E4-4A1A-B49F-09EAD9F57E3B}">
          <cx:tx>
            <cx:txData>
              <cx:f>Sheet1!$B$1</cx:f>
              <cx:v>Value</cx:v>
            </cx:txData>
          </cx:tx>
          <cx:dataLabels pos="outEnd">
            <cx:numFmt formatCode="£#,##0.00" sourceLinked="0"/>
            <cx:txPr>
              <a:bodyPr spcFirstLastPara="1" vertOverflow="ellipsis" horzOverflow="overflow" wrap="square" lIns="0" tIns="0" rIns="0" bIns="0" anchor="ctr" anchorCtr="1"/>
              <a:lstStyle/>
              <a:p>
                <a:pPr algn="ctr" rtl="0">
                  <a:defRPr sz="1100">
                    <a:latin typeface="Arial Bold" panose="020B0704020202020204" pitchFamily="34" charset="0"/>
                    <a:ea typeface="Arial Bold" panose="020B0704020202020204" pitchFamily="34" charset="0"/>
                    <a:cs typeface="Arial Bold" panose="020B0704020202020204" pitchFamily="34" charset="0"/>
                  </a:defRPr>
                </a:pPr>
                <a:endParaRPr lang="en-GB" sz="1100" b="0" i="0" u="none" strike="noStrike" baseline="0">
                  <a:solidFill>
                    <a:prstClr val="black">
                      <a:lumMod val="65000"/>
                      <a:lumOff val="35000"/>
                    </a:prstClr>
                  </a:solidFill>
                  <a:latin typeface="Arial Bold" panose="020B0704020202020204" pitchFamily="34" charset="0"/>
                  <a:cs typeface="Arial Bold" panose="020B0704020202020204" pitchFamily="34" charset="0"/>
                </a:endParaRPr>
              </a:p>
            </cx:txPr>
            <cx:visibility seriesName="0" categoryName="0" value="1"/>
            <cx:separator>, </cx:separator>
          </cx:dataLabels>
          <cx:dataId val="0"/>
          <cx:layoutPr>
            <cx:subtotals>
              <cx:idx val="0"/>
              <cx:idx val="3"/>
            </cx:subtotals>
          </cx:layoutPr>
        </cx:series>
      </cx:plotAreaRegion>
      <cx:axis id="0">
        <cx:catScaling gapWidth="0.5"/>
        <cx:tickLabels/>
        <cx:txPr>
          <a:bodyPr spcFirstLastPara="1" vertOverflow="ellipsis" horzOverflow="overflow" wrap="square" lIns="0" tIns="0" rIns="0" bIns="0" anchor="ctr" anchorCtr="1"/>
          <a:lstStyle/>
          <a:p>
            <a:pPr algn="just" rtl="0">
              <a:defRPr sz="900">
                <a:solidFill>
                  <a:schemeClr val="bg2">
                    <a:lumMod val="25000"/>
                  </a:schemeClr>
                </a:solidFill>
                <a:latin typeface="Arial" panose="020B0604020202020204" pitchFamily="34" charset="0"/>
                <a:ea typeface="Arial" panose="020B0604020202020204" pitchFamily="34" charset="0"/>
                <a:cs typeface="Arial" panose="020B0604020202020204" pitchFamily="34" charset="0"/>
              </a:defRPr>
            </a:pPr>
            <a:endParaRPr lang="en-GB" sz="900" b="0" i="0" u="none" strike="noStrike" baseline="0">
              <a:solidFill>
                <a:schemeClr val="bg2">
                  <a:lumMod val="25000"/>
                </a:schemeClr>
              </a:solidFill>
              <a:latin typeface="Arial" panose="020B0604020202020204" pitchFamily="34" charset="0"/>
              <a:cs typeface="Arial" panose="020B0604020202020204" pitchFamily="34" charset="0"/>
            </a:endParaRPr>
          </a:p>
        </cx:txPr>
      </cx:axis>
      <cx:axis id="1" hidden="1">
        <cx:valScaling/>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Sheet1!$A$2:$A$7</cx:f>
        <cx:lvl ptCount="6">
          <cx:pt idx="0">Revenue synergies</cx:pt>
          <cx:pt idx="1">Procurement</cx:pt>
          <cx:pt idx="2">Distribution</cx:pt>
          <cx:pt idx="3">Head office</cx:pt>
          <cx:pt idx="4">Technology &amp; Marketing</cx:pt>
          <cx:pt idx="5">Total</cx:pt>
        </cx:lvl>
      </cx:strDim>
      <cx:numDim type="val">
        <cx:f>Sheet1!$B$2:$B$7</cx:f>
        <cx:lvl ptCount="6" formatCode="General">
          <cx:pt idx="0">14.800000000000001</cx:pt>
          <cx:pt idx="1">20.5</cx:pt>
          <cx:pt idx="2">8.1999999999999993</cx:pt>
          <cx:pt idx="3">11.5</cx:pt>
          <cx:pt idx="4">6.5999999999999996</cx:pt>
          <cx:pt idx="5">61.5</cx:pt>
        </cx:lvl>
      </cx:numDim>
    </cx:data>
  </cx:chartData>
  <cx:chart>
    <cx:plotArea>
      <cx:plotAreaRegion>
        <cx:series layoutId="waterfall" uniqueId="{E3CF2C51-E2E4-4A1A-B49F-09EAD9F57E3B}">
          <cx:tx>
            <cx:txData>
              <cx:f>Sheet1!$B$1</cx:f>
              <cx:v>Value</cx:v>
            </cx:txData>
          </cx:tx>
          <cx:dataLabels pos="outEnd">
            <cx:numFmt formatCode="£#,##0.00" sourceLinked="0"/>
            <cx:txPr>
              <a:bodyPr spcFirstLastPara="1" vertOverflow="ellipsis" horzOverflow="overflow" wrap="square" lIns="0" tIns="0" rIns="0" bIns="0" anchor="ctr" anchorCtr="1"/>
              <a:lstStyle/>
              <a:p>
                <a:pPr algn="ctr" rtl="0">
                  <a:defRPr sz="1100">
                    <a:latin typeface="Arial Bold" panose="020B0704020202020204" pitchFamily="34" charset="0"/>
                    <a:ea typeface="Arial Bold" panose="020B0704020202020204" pitchFamily="34" charset="0"/>
                    <a:cs typeface="Arial Bold" panose="020B0704020202020204" pitchFamily="34" charset="0"/>
                  </a:defRPr>
                </a:pPr>
                <a:endParaRPr lang="en-GB" sz="1100" b="0" i="0" u="none" strike="noStrike" baseline="0">
                  <a:solidFill>
                    <a:prstClr val="black">
                      <a:lumMod val="65000"/>
                      <a:lumOff val="35000"/>
                    </a:prstClr>
                  </a:solidFill>
                  <a:latin typeface="Arial Bold" panose="020B0704020202020204" pitchFamily="34" charset="0"/>
                  <a:cs typeface="Arial Bold" panose="020B0704020202020204" pitchFamily="34" charset="0"/>
                </a:endParaRPr>
              </a:p>
            </cx:txPr>
            <cx:visibility seriesName="0" categoryName="0" value="1"/>
            <cx:separator>, </cx:separator>
          </cx:dataLabels>
          <cx:dataId val="0"/>
          <cx:layoutPr>
            <cx:subtotals>
              <cx:idx val="0"/>
              <cx:idx val="5"/>
              <cx:idx val="6"/>
            </cx:subtotals>
          </cx:layoutPr>
        </cx:series>
      </cx:plotAreaRegion>
      <cx:axis id="0">
        <cx:catScaling gapWidth="0.5"/>
        <cx:tickLabels/>
        <cx:txPr>
          <a:bodyPr spcFirstLastPara="1" vertOverflow="ellipsis" horzOverflow="overflow" wrap="square" lIns="0" tIns="0" rIns="0" bIns="0" anchor="ctr" anchorCtr="1"/>
          <a:lstStyle/>
          <a:p>
            <a:pPr algn="just" rtl="0">
              <a:defRPr sz="900">
                <a:solidFill>
                  <a:schemeClr val="bg2">
                    <a:lumMod val="25000"/>
                  </a:schemeClr>
                </a:solidFill>
                <a:latin typeface="Arial" panose="020B0604020202020204" pitchFamily="34" charset="0"/>
                <a:ea typeface="Arial" panose="020B0604020202020204" pitchFamily="34" charset="0"/>
                <a:cs typeface="Arial" panose="020B0604020202020204" pitchFamily="34" charset="0"/>
              </a:defRPr>
            </a:pPr>
            <a:endParaRPr lang="en-GB" sz="900" b="0" i="0" u="none" strike="noStrike" baseline="0">
              <a:solidFill>
                <a:schemeClr val="bg2">
                  <a:lumMod val="25000"/>
                </a:schemeClr>
              </a:solidFill>
              <a:latin typeface="Arial" panose="020B0604020202020204" pitchFamily="34" charset="0"/>
              <a:cs typeface="Arial" panose="020B0604020202020204" pitchFamily="34" charset="0"/>
            </a:endParaRPr>
          </a:p>
        </cx:txPr>
      </cx:axis>
      <cx:axis id="1" hidden="1">
        <cx:valScaling/>
        <cx:tickLabels/>
      </cx:axis>
    </cx:plotArea>
  </cx:chart>
</cx: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colors2.xml><?xml version="1.0" encoding="utf-8"?>
<cs:colorStyle xmlns:cs="http://schemas.microsoft.com/office/drawing/2012/chartStyle" xmlns:a="http://schemas.openxmlformats.org/drawingml/2006/main" meth="withinLinearReversed" id="21">
  <a:schemeClr val="accent1"/>
</cs:colorStyle>
</file>

<file path=ppt/charts/colors3.xml><?xml version="1.0" encoding="utf-8"?>
<cs:colorStyle xmlns:cs="http://schemas.microsoft.com/office/drawing/2012/chartStyle" xmlns:a="http://schemas.openxmlformats.org/drawingml/2006/main" meth="withinLinearReversed" id="21">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A8CBB-C9EE-464F-90D4-F20460DDB232}" type="datetimeFigureOut">
              <a:rPr lang="en-GB" smtClean="0"/>
              <a:t>11/09/2026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22C1A-21C3-4E5D-9FAD-ED82D755D7B3}" type="slidenum">
              <a:rPr lang="en-GB" smtClean="0"/>
              <a:t>‹#›</a:t>
            </a:fld>
            <a:endParaRPr lang="en-GB"/>
          </a:p>
        </p:txBody>
      </p:sp>
    </p:spTree>
    <p:extLst>
      <p:ext uri="{BB962C8B-B14F-4D97-AF65-F5344CB8AC3E}">
        <p14:creationId xmlns:p14="http://schemas.microsoft.com/office/powerpoint/2010/main" val="1506237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ECA8-1EE7-4AE7-FA6B-523F8736232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F51C205-4B9F-D655-E38C-4141526043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4D4A0085-7876-DA1D-3339-507A4313D8FE}"/>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5" name="Footer Placeholder 4">
            <a:extLst>
              <a:ext uri="{FF2B5EF4-FFF2-40B4-BE49-F238E27FC236}">
                <a16:creationId xmlns:a16="http://schemas.microsoft.com/office/drawing/2014/main" id="{D282A7A8-60E6-3D7F-8129-B52C73623B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8652DE-6EC8-B4D0-7745-6DD5F331EBC2}"/>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83666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94982-1E56-F0D9-C2AF-72B6329B707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9895430-E9AD-D391-BD29-93017876FC3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303670-CE4D-CFF5-0686-BF056662E452}"/>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5" name="Footer Placeholder 4">
            <a:extLst>
              <a:ext uri="{FF2B5EF4-FFF2-40B4-BE49-F238E27FC236}">
                <a16:creationId xmlns:a16="http://schemas.microsoft.com/office/drawing/2014/main" id="{09EFD136-1FF7-738F-4AE2-892514CBD6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273487-DADA-3EC1-1970-8EE39E1A9732}"/>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988816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E6C4F-A746-E7EB-BE49-3288D837AF7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22346AD5-1F6E-6E47-4C79-9534BCC4AC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0242AB8-F6EF-BD12-E32D-E7A9381182D0}"/>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5" name="Footer Placeholder 4">
            <a:extLst>
              <a:ext uri="{FF2B5EF4-FFF2-40B4-BE49-F238E27FC236}">
                <a16:creationId xmlns:a16="http://schemas.microsoft.com/office/drawing/2014/main" id="{77A6109D-2B77-E83E-2547-F16E13041F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AEF374-2AAC-4C24-A817-075E14FCDF0B}"/>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3746044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C5CF-DC3E-8E5B-22F4-6B542A6C685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712D03B-DAEC-549E-C782-10A3653630D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2E9CCA3-2444-4F0B-AFED-AF431C40F9A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4F7D5C8-8F0D-8183-5F24-18C5203AC716}"/>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6" name="Footer Placeholder 5">
            <a:extLst>
              <a:ext uri="{FF2B5EF4-FFF2-40B4-BE49-F238E27FC236}">
                <a16:creationId xmlns:a16="http://schemas.microsoft.com/office/drawing/2014/main" id="{DBC2FA28-1D6F-040A-1430-5DC24B7343C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69B416-F79F-4A15-7025-2C997059453E}"/>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2262592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E310-3E76-3DBD-82F3-C2D6967514C2}"/>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A994E7F7-D43A-D5F3-A2EC-FD37A1F21C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0F75E19-4853-8FB8-9014-072DA0C370E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BB52E31-FCE3-BCBD-0CDE-86302F24C9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8FF1024-7AE4-9AC9-6CA5-D40E53D408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BD23291-0E38-BFB4-24D9-51BC43BD1DA4}"/>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8" name="Footer Placeholder 7">
            <a:extLst>
              <a:ext uri="{FF2B5EF4-FFF2-40B4-BE49-F238E27FC236}">
                <a16:creationId xmlns:a16="http://schemas.microsoft.com/office/drawing/2014/main" id="{41C19D70-A33E-4D8D-4C08-BA9E41C1ADC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9577D9E-BC09-9A98-5106-2C0EF914C5E4}"/>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4234383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0DFBA-555A-C6A0-902F-5341D6849CB8}"/>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384A8A0-E01E-712F-67B0-7213710BCA19}"/>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4" name="Footer Placeholder 3">
            <a:extLst>
              <a:ext uri="{FF2B5EF4-FFF2-40B4-BE49-F238E27FC236}">
                <a16:creationId xmlns:a16="http://schemas.microsoft.com/office/drawing/2014/main" id="{198AB499-4D04-6999-34A7-CFDCD9B25EE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E48D3E5-7899-1A33-E469-3600BA2A52E3}"/>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1201428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CA370B-E853-60B5-4287-58C0536EF9CC}"/>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3" name="Footer Placeholder 2">
            <a:extLst>
              <a:ext uri="{FF2B5EF4-FFF2-40B4-BE49-F238E27FC236}">
                <a16:creationId xmlns:a16="http://schemas.microsoft.com/office/drawing/2014/main" id="{D0209ACF-E3F8-75BD-3F5A-043E0FC1011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65E9B41-C1EF-2DB8-D6B9-522144A49A75}"/>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103715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A6A2B-7DD4-1F7C-CF29-B599DE42B9D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55B30F4-3F70-3FB4-2021-F4DB5EE876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FB3035D-6D34-A4C7-FB53-B9DFA307F4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2D379-DB0F-087C-EA61-8486F06C7627}"/>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6" name="Footer Placeholder 5">
            <a:extLst>
              <a:ext uri="{FF2B5EF4-FFF2-40B4-BE49-F238E27FC236}">
                <a16:creationId xmlns:a16="http://schemas.microsoft.com/office/drawing/2014/main" id="{CEC28604-B814-DE29-074B-14E407F0E1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5587247-AF4E-D446-AC53-A3764B0001C6}"/>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763765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3387-ED9B-A0C1-E58F-A915D042FB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389F2AF-84C4-157B-2FC2-70431B9530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308460C-0965-E6F5-2716-6A917A0E84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F38F17-13FB-37EB-7BC5-1A87370D2467}"/>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6" name="Footer Placeholder 5">
            <a:extLst>
              <a:ext uri="{FF2B5EF4-FFF2-40B4-BE49-F238E27FC236}">
                <a16:creationId xmlns:a16="http://schemas.microsoft.com/office/drawing/2014/main" id="{FB393F43-ECC5-004F-8D13-951A7FD872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D8F9F11-8E00-6F2C-1672-37AFE3D2223C}"/>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1314562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7D392-70E9-3D48-05D5-3220CD570FCB}"/>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47949D4-C926-95BA-211D-ABA026EF88C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15176C6-8F0C-FA1F-CA25-21ED144B4BFD}"/>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5" name="Footer Placeholder 4">
            <a:extLst>
              <a:ext uri="{FF2B5EF4-FFF2-40B4-BE49-F238E27FC236}">
                <a16:creationId xmlns:a16="http://schemas.microsoft.com/office/drawing/2014/main" id="{BD7F66C2-C3E2-AE69-1D36-736C952C08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D701DF-7CF7-504E-76F4-FBE4BBBB6CFC}"/>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4222827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FFAA6F-F6B0-C79A-9854-96494E393089}"/>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C222212-AE2E-DBDF-D85C-2403D69BA4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4FC72D6-7CEC-4886-2733-1AF2A82AB608}"/>
              </a:ext>
            </a:extLst>
          </p:cNvPr>
          <p:cNvSpPr>
            <a:spLocks noGrp="1"/>
          </p:cNvSpPr>
          <p:nvPr>
            <p:ph type="dt" sz="half" idx="10"/>
          </p:nvPr>
        </p:nvSpPr>
        <p:spPr/>
        <p:txBody>
          <a:bodyPr/>
          <a:lstStyle/>
          <a:p>
            <a:fld id="{09A8A865-42CA-4FFA-933C-D25F018D59FD}" type="datetimeFigureOut">
              <a:rPr lang="en-GB" smtClean="0"/>
              <a:t>11/09/2026</a:t>
            </a:fld>
            <a:endParaRPr lang="en-GB"/>
          </a:p>
        </p:txBody>
      </p:sp>
      <p:sp>
        <p:nvSpPr>
          <p:cNvPr id="5" name="Footer Placeholder 4">
            <a:extLst>
              <a:ext uri="{FF2B5EF4-FFF2-40B4-BE49-F238E27FC236}">
                <a16:creationId xmlns:a16="http://schemas.microsoft.com/office/drawing/2014/main" id="{5A433B2E-56FC-C242-047C-81F6A0D2A6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0F3F73-7519-3CD4-1348-7511B905191B}"/>
              </a:ext>
            </a:extLst>
          </p:cNvPr>
          <p:cNvSpPr>
            <a:spLocks noGrp="1"/>
          </p:cNvSpPr>
          <p:nvPr>
            <p:ph type="sldNum" sz="quarter" idx="12"/>
          </p:nvPr>
        </p:nvSpPr>
        <p:spPr/>
        <p:txBody>
          <a:bodyPr/>
          <a:lstStyle/>
          <a:p>
            <a:fld id="{AE00B61D-EC43-4909-A370-DE7D6A8B61FE}" type="slidenum">
              <a:rPr lang="en-GB" smtClean="0"/>
              <a:t>‹#›</a:t>
            </a:fld>
            <a:endParaRPr lang="en-GB"/>
          </a:p>
        </p:txBody>
      </p:sp>
    </p:spTree>
    <p:extLst>
      <p:ext uri="{BB962C8B-B14F-4D97-AF65-F5344CB8AC3E}">
        <p14:creationId xmlns:p14="http://schemas.microsoft.com/office/powerpoint/2010/main" val="4054008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DBCCB9-2C9D-616C-227D-00C9B20203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2E88DF4B-96CB-CABD-0F5E-32CC1B8F26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3E26FD4-F71E-3F96-2CAE-343D2440CB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A8A865-42CA-4FFA-933C-D25F018D59FD}" type="datetimeFigureOut">
              <a:rPr lang="en-GB" smtClean="0"/>
              <a:t>11/09/2026</a:t>
            </a:fld>
            <a:endParaRPr lang="en-GB"/>
          </a:p>
        </p:txBody>
      </p:sp>
      <p:sp>
        <p:nvSpPr>
          <p:cNvPr id="5" name="Footer Placeholder 4">
            <a:extLst>
              <a:ext uri="{FF2B5EF4-FFF2-40B4-BE49-F238E27FC236}">
                <a16:creationId xmlns:a16="http://schemas.microsoft.com/office/drawing/2014/main" id="{D65636B6-2DD1-161A-37E6-2E939A9D85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A78640F-D814-D320-81C7-209F8F6B49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00B61D-EC43-4909-A370-DE7D6A8B61FE}" type="slidenum">
              <a:rPr lang="en-GB" smtClean="0"/>
              <a:t>‹#›</a:t>
            </a:fld>
            <a:endParaRPr lang="en-GB"/>
          </a:p>
        </p:txBody>
      </p:sp>
    </p:spTree>
    <p:extLst>
      <p:ext uri="{BB962C8B-B14F-4D97-AF65-F5344CB8AC3E}">
        <p14:creationId xmlns:p14="http://schemas.microsoft.com/office/powerpoint/2010/main" val="255788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4/relationships/chartEx" Target="../charts/chartEx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900129-4556-7A8A-4DCA-7BE3B1653438}"/>
              </a:ext>
            </a:extLst>
          </p:cNvPr>
          <p:cNvSpPr txBox="1"/>
          <p:nvPr/>
        </p:nvSpPr>
        <p:spPr>
          <a:xfrm>
            <a:off x="410400" y="410400"/>
            <a:ext cx="11372400" cy="461665"/>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B&amp;M should acquire Poundland at a 15% premium, creating £17m of value</a:t>
            </a:r>
          </a:p>
        </p:txBody>
      </p:sp>
      <p:sp>
        <p:nvSpPr>
          <p:cNvPr id="7" name="TextBox 6">
            <a:extLst>
              <a:ext uri="{FF2B5EF4-FFF2-40B4-BE49-F238E27FC236}">
                <a16:creationId xmlns:a16="http://schemas.microsoft.com/office/drawing/2014/main" id="{4C121C75-855D-98E9-E887-85507334DEE4}"/>
              </a:ext>
            </a:extLst>
          </p:cNvPr>
          <p:cNvSpPr txBox="1"/>
          <p:nvPr/>
        </p:nvSpPr>
        <p:spPr>
          <a:xfrm>
            <a:off x="2683800" y="1076400"/>
            <a:ext cx="2275200" cy="504000"/>
          </a:xfrm>
          <a:prstGeom prst="rect">
            <a:avLst/>
          </a:prstGeom>
          <a:solidFill>
            <a:srgbClr val="F2F4F6"/>
          </a:solidFill>
        </p:spPr>
        <p:txBody>
          <a:bodyPr wrap="square" rtlCol="0">
            <a:spAutoFit/>
          </a:bodyPr>
          <a:lstStyle/>
          <a:p>
            <a:r>
              <a:rPr lang="en-GB" sz="1200" dirty="0">
                <a:solidFill>
                  <a:srgbClr val="6E6E6E"/>
                </a:solidFill>
                <a:latin typeface="Arial Bold" panose="020B0704020202020204" pitchFamily="34" charset="0"/>
                <a:cs typeface="Arial Bold" panose="020B0704020202020204" pitchFamily="34" charset="0"/>
              </a:rPr>
              <a:t>Target</a:t>
            </a:r>
          </a:p>
          <a:p>
            <a:r>
              <a:rPr lang="en-GB" sz="1400" dirty="0">
                <a:solidFill>
                  <a:srgbClr val="142A43"/>
                </a:solidFill>
                <a:latin typeface="Arial Bold" panose="020B0704020202020204" pitchFamily="34" charset="0"/>
                <a:cs typeface="Arial Bold" panose="020B0704020202020204" pitchFamily="34" charset="0"/>
              </a:rPr>
              <a:t>Poundland</a:t>
            </a:r>
          </a:p>
        </p:txBody>
      </p:sp>
      <p:sp>
        <p:nvSpPr>
          <p:cNvPr id="9" name="TextBox 8">
            <a:extLst>
              <a:ext uri="{FF2B5EF4-FFF2-40B4-BE49-F238E27FC236}">
                <a16:creationId xmlns:a16="http://schemas.microsoft.com/office/drawing/2014/main" id="{7966E387-173B-F7A0-E71C-71EA2D1746E8}"/>
              </a:ext>
            </a:extLst>
          </p:cNvPr>
          <p:cNvSpPr txBox="1"/>
          <p:nvPr/>
        </p:nvSpPr>
        <p:spPr>
          <a:xfrm>
            <a:off x="4958400" y="1076400"/>
            <a:ext cx="2275200" cy="504000"/>
          </a:xfrm>
          <a:prstGeom prst="rect">
            <a:avLst/>
          </a:prstGeom>
          <a:solidFill>
            <a:srgbClr val="F2F4F6"/>
          </a:solidFill>
        </p:spPr>
        <p:txBody>
          <a:bodyPr wrap="square" rtlCol="0">
            <a:spAutoFit/>
          </a:bodyPr>
          <a:lstStyle/>
          <a:p>
            <a:r>
              <a:rPr lang="en-GB" sz="1200" dirty="0">
                <a:solidFill>
                  <a:srgbClr val="6E6E6E"/>
                </a:solidFill>
                <a:latin typeface="Arial Bold" panose="020B0704020202020204" pitchFamily="34" charset="0"/>
                <a:cs typeface="Arial Bold" panose="020B0704020202020204" pitchFamily="34" charset="0"/>
              </a:rPr>
              <a:t>Transaction</a:t>
            </a:r>
          </a:p>
          <a:p>
            <a:r>
              <a:rPr lang="en-GB" sz="1400" dirty="0">
                <a:solidFill>
                  <a:srgbClr val="142A43"/>
                </a:solidFill>
                <a:latin typeface="Arial Bold" panose="020B0704020202020204" pitchFamily="34" charset="0"/>
                <a:cs typeface="Arial Bold" panose="020B0704020202020204" pitchFamily="34" charset="0"/>
              </a:rPr>
              <a:t>Acquisition</a:t>
            </a:r>
          </a:p>
        </p:txBody>
      </p:sp>
      <p:sp>
        <p:nvSpPr>
          <p:cNvPr id="11" name="TextBox 10">
            <a:extLst>
              <a:ext uri="{FF2B5EF4-FFF2-40B4-BE49-F238E27FC236}">
                <a16:creationId xmlns:a16="http://schemas.microsoft.com/office/drawing/2014/main" id="{99525911-8C1B-067A-838F-93D38A1829B4}"/>
              </a:ext>
            </a:extLst>
          </p:cNvPr>
          <p:cNvSpPr txBox="1"/>
          <p:nvPr/>
        </p:nvSpPr>
        <p:spPr>
          <a:xfrm>
            <a:off x="7233000" y="1076400"/>
            <a:ext cx="2275200" cy="504000"/>
          </a:xfrm>
          <a:prstGeom prst="rect">
            <a:avLst/>
          </a:prstGeom>
          <a:solidFill>
            <a:srgbClr val="F2F4F6"/>
          </a:solidFill>
        </p:spPr>
        <p:txBody>
          <a:bodyPr wrap="square" rtlCol="0">
            <a:spAutoFit/>
          </a:bodyPr>
          <a:lstStyle/>
          <a:p>
            <a:r>
              <a:rPr lang="en-GB" sz="1200" dirty="0">
                <a:solidFill>
                  <a:srgbClr val="6E6E6E"/>
                </a:solidFill>
                <a:latin typeface="Arial Bold" panose="020B0704020202020204" pitchFamily="34" charset="0"/>
                <a:cs typeface="Arial Bold" panose="020B0704020202020204" pitchFamily="34" charset="0"/>
              </a:rPr>
              <a:t>Premium</a:t>
            </a:r>
          </a:p>
          <a:p>
            <a:r>
              <a:rPr lang="en-GB" sz="1400" dirty="0">
                <a:solidFill>
                  <a:srgbClr val="142A43"/>
                </a:solidFill>
                <a:latin typeface="Arial Bold" panose="020B0704020202020204" pitchFamily="34" charset="0"/>
                <a:cs typeface="Arial Bold" panose="020B0704020202020204" pitchFamily="34" charset="0"/>
              </a:rPr>
              <a:t>15%</a:t>
            </a:r>
          </a:p>
        </p:txBody>
      </p:sp>
      <p:sp>
        <p:nvSpPr>
          <p:cNvPr id="13" name="TextBox 12">
            <a:extLst>
              <a:ext uri="{FF2B5EF4-FFF2-40B4-BE49-F238E27FC236}">
                <a16:creationId xmlns:a16="http://schemas.microsoft.com/office/drawing/2014/main" id="{8282E197-169A-0AEF-D503-EB9914B8A1CC}"/>
              </a:ext>
            </a:extLst>
          </p:cNvPr>
          <p:cNvSpPr txBox="1"/>
          <p:nvPr/>
        </p:nvSpPr>
        <p:spPr>
          <a:xfrm>
            <a:off x="409200" y="1076400"/>
            <a:ext cx="2275200" cy="504000"/>
          </a:xfrm>
          <a:prstGeom prst="rect">
            <a:avLst/>
          </a:prstGeom>
          <a:solidFill>
            <a:srgbClr val="F2F4F6"/>
          </a:solidFill>
        </p:spPr>
        <p:txBody>
          <a:bodyPr wrap="square" rtlCol="0">
            <a:spAutoFit/>
          </a:bodyPr>
          <a:lstStyle/>
          <a:p>
            <a:r>
              <a:rPr lang="en-GB" sz="1200" dirty="0">
                <a:solidFill>
                  <a:srgbClr val="6E6E6E"/>
                </a:solidFill>
                <a:latin typeface="Arial Bold" panose="020B0704020202020204" pitchFamily="34" charset="0"/>
                <a:cs typeface="Arial Bold" panose="020B0704020202020204" pitchFamily="34" charset="0"/>
              </a:rPr>
              <a:t>Acquirer</a:t>
            </a:r>
          </a:p>
          <a:p>
            <a:r>
              <a:rPr lang="en-GB" sz="1400" dirty="0">
                <a:solidFill>
                  <a:srgbClr val="142A43"/>
                </a:solidFill>
                <a:latin typeface="Arial Bold" panose="020B0704020202020204" pitchFamily="34" charset="0"/>
                <a:cs typeface="Arial Bold" panose="020B0704020202020204" pitchFamily="34" charset="0"/>
              </a:rPr>
              <a:t>B&amp;M</a:t>
            </a:r>
          </a:p>
        </p:txBody>
      </p:sp>
      <p:sp>
        <p:nvSpPr>
          <p:cNvPr id="15" name="TextBox 14">
            <a:extLst>
              <a:ext uri="{FF2B5EF4-FFF2-40B4-BE49-F238E27FC236}">
                <a16:creationId xmlns:a16="http://schemas.microsoft.com/office/drawing/2014/main" id="{5EDBECCD-AAC3-5283-45DF-A7B3D3C269E8}"/>
              </a:ext>
            </a:extLst>
          </p:cNvPr>
          <p:cNvSpPr txBox="1"/>
          <p:nvPr/>
        </p:nvSpPr>
        <p:spPr>
          <a:xfrm>
            <a:off x="9507600" y="1076400"/>
            <a:ext cx="2275200" cy="504000"/>
          </a:xfrm>
          <a:prstGeom prst="rect">
            <a:avLst/>
          </a:prstGeom>
          <a:solidFill>
            <a:srgbClr val="F2F4F6"/>
          </a:solidFill>
        </p:spPr>
        <p:txBody>
          <a:bodyPr wrap="square" rtlCol="0">
            <a:spAutoFit/>
          </a:bodyPr>
          <a:lstStyle/>
          <a:p>
            <a:r>
              <a:rPr lang="en-GB" sz="1200" dirty="0">
                <a:solidFill>
                  <a:srgbClr val="6E6E6E"/>
                </a:solidFill>
                <a:latin typeface="Arial Bold" panose="020B0704020202020204" pitchFamily="34" charset="0"/>
                <a:cs typeface="Arial Bold" panose="020B0704020202020204" pitchFamily="34" charset="0"/>
              </a:rPr>
              <a:t>Purchase Price</a:t>
            </a:r>
          </a:p>
          <a:p>
            <a:r>
              <a:rPr lang="en-GB" sz="1400" dirty="0">
                <a:solidFill>
                  <a:srgbClr val="142A43"/>
                </a:solidFill>
                <a:latin typeface="Arial Bold" panose="020B0704020202020204" pitchFamily="34" charset="0"/>
                <a:cs typeface="Arial Bold" panose="020B0704020202020204" pitchFamily="34" charset="0"/>
              </a:rPr>
              <a:t>£386.9m</a:t>
            </a:r>
          </a:p>
        </p:txBody>
      </p:sp>
      <p:sp>
        <p:nvSpPr>
          <p:cNvPr id="16" name="TextBox 15">
            <a:extLst>
              <a:ext uri="{FF2B5EF4-FFF2-40B4-BE49-F238E27FC236}">
                <a16:creationId xmlns:a16="http://schemas.microsoft.com/office/drawing/2014/main" id="{884EC986-F3E4-62E2-4400-92D055E00C15}"/>
              </a:ext>
            </a:extLst>
          </p:cNvPr>
          <p:cNvSpPr txBox="1"/>
          <p:nvPr/>
        </p:nvSpPr>
        <p:spPr>
          <a:xfrm>
            <a:off x="410400" y="1990800"/>
            <a:ext cx="3517200" cy="22392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Attractive Value Creation</a:t>
            </a:r>
          </a:p>
          <a:p>
            <a:endParaRPr lang="en-GB" sz="1000" dirty="0">
              <a:solidFill>
                <a:srgbClr val="142A43"/>
              </a:solidFill>
              <a:latin typeface="Arial Bold" panose="020B0704020202020204" pitchFamily="34" charset="0"/>
              <a:cs typeface="Arial Bold" panose="020B0704020202020204" pitchFamily="34" charset="0"/>
            </a:endParaRPr>
          </a:p>
          <a:p>
            <a:r>
              <a:rPr lang="en-GB" sz="2400" dirty="0">
                <a:solidFill>
                  <a:srgbClr val="142A43"/>
                </a:solidFill>
                <a:latin typeface="Arial Bold" panose="020B0704020202020204" pitchFamily="34" charset="0"/>
                <a:cs typeface="Arial Bold" panose="020B0704020202020204" pitchFamily="34" charset="0"/>
              </a:rPr>
              <a:t>£17.4m</a:t>
            </a:r>
          </a:p>
          <a:p>
            <a:r>
              <a:rPr lang="en-GB" sz="1000" dirty="0">
                <a:solidFill>
                  <a:srgbClr val="6E6E6E"/>
                </a:solidFill>
                <a:latin typeface="Arial" panose="020B0604020202020204" pitchFamily="34" charset="0"/>
                <a:cs typeface="Arial" panose="020B0604020202020204" pitchFamily="34" charset="0"/>
              </a:rPr>
              <a:t>Estimated transaction value creation</a:t>
            </a:r>
          </a:p>
          <a:p>
            <a:endParaRPr lang="en-GB" sz="900" dirty="0">
              <a:solidFill>
                <a:srgbClr val="142A43"/>
              </a:solidFill>
              <a:latin typeface="Arial" panose="020B0604020202020204" pitchFamily="34" charset="0"/>
              <a:cs typeface="Arial" panose="020B0604020202020204" pitchFamily="34" charset="0"/>
            </a:endParaRPr>
          </a:p>
          <a:p>
            <a:r>
              <a:rPr lang="en-GB" sz="1600" dirty="0">
                <a:solidFill>
                  <a:srgbClr val="142A43"/>
                </a:solidFill>
                <a:latin typeface="Arial Bold" panose="020B0704020202020204" pitchFamily="34" charset="0"/>
                <a:cs typeface="Arial Bold" panose="020B0704020202020204" pitchFamily="34" charset="0"/>
              </a:rPr>
              <a:t>4.5%</a:t>
            </a:r>
          </a:p>
          <a:p>
            <a:r>
              <a:rPr lang="en-GB" sz="1000" dirty="0">
                <a:solidFill>
                  <a:srgbClr val="6E6E6E"/>
                </a:solidFill>
                <a:latin typeface="Arial" panose="020B0604020202020204" pitchFamily="34" charset="0"/>
                <a:cs typeface="Arial" panose="020B0604020202020204" pitchFamily="34" charset="0"/>
              </a:rPr>
              <a:t>Value creation / Purchase price</a:t>
            </a:r>
          </a:p>
          <a:p>
            <a:endParaRPr lang="en-GB" sz="900" dirty="0">
              <a:solidFill>
                <a:srgbClr val="6E6E6E"/>
              </a:solidFill>
              <a:latin typeface="Arial" panose="020B0604020202020204" pitchFamily="34" charset="0"/>
              <a:cs typeface="Arial" panose="020B06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Positive NPV supported by recurring revenue and cost synergies, with the transaction remaining value-creating at the proposed 15% premium.</a:t>
            </a:r>
          </a:p>
        </p:txBody>
      </p:sp>
      <p:sp>
        <p:nvSpPr>
          <p:cNvPr id="18" name="TextBox 17">
            <a:extLst>
              <a:ext uri="{FF2B5EF4-FFF2-40B4-BE49-F238E27FC236}">
                <a16:creationId xmlns:a16="http://schemas.microsoft.com/office/drawing/2014/main" id="{A5DB5F95-4756-E796-3EFB-577F10E167C1}"/>
              </a:ext>
            </a:extLst>
          </p:cNvPr>
          <p:cNvSpPr txBox="1"/>
          <p:nvPr/>
        </p:nvSpPr>
        <p:spPr>
          <a:xfrm>
            <a:off x="4337400" y="1990800"/>
            <a:ext cx="3517200" cy="22392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Synergy &amp; Earnings Upside</a:t>
            </a:r>
          </a:p>
          <a:p>
            <a:endParaRPr lang="en-GB" sz="1000" dirty="0">
              <a:solidFill>
                <a:srgbClr val="142A43"/>
              </a:solidFill>
              <a:latin typeface="Arial Bold" panose="020B0704020202020204" pitchFamily="34" charset="0"/>
              <a:cs typeface="Arial Bold" panose="020B0704020202020204" pitchFamily="34" charset="0"/>
            </a:endParaRPr>
          </a:p>
          <a:p>
            <a:r>
              <a:rPr lang="en-GB" sz="2400" dirty="0">
                <a:solidFill>
                  <a:srgbClr val="142A43"/>
                </a:solidFill>
                <a:latin typeface="Arial Bold" panose="020B0704020202020204" pitchFamily="34" charset="0"/>
                <a:cs typeface="Arial Bold" panose="020B0704020202020204" pitchFamily="34" charset="0"/>
              </a:rPr>
              <a:t>£61.5m</a:t>
            </a:r>
          </a:p>
          <a:p>
            <a:r>
              <a:rPr lang="en-GB" sz="1000" dirty="0">
                <a:solidFill>
                  <a:srgbClr val="6E6E6E"/>
                </a:solidFill>
                <a:latin typeface="Arial" panose="020B0604020202020204" pitchFamily="34" charset="0"/>
                <a:cs typeface="Arial" panose="020B0604020202020204" pitchFamily="34" charset="0"/>
              </a:rPr>
              <a:t>FY30E EBITDA Synergies</a:t>
            </a:r>
          </a:p>
          <a:p>
            <a:endParaRPr lang="en-GB" sz="900" dirty="0">
              <a:solidFill>
                <a:srgbClr val="142A43"/>
              </a:solidFill>
              <a:latin typeface="Arial" panose="020B0604020202020204" pitchFamily="34" charset="0"/>
              <a:cs typeface="Arial" panose="020B0604020202020204" pitchFamily="34" charset="0"/>
            </a:endParaRPr>
          </a:p>
          <a:p>
            <a:r>
              <a:rPr lang="en-GB" sz="1600" dirty="0">
                <a:solidFill>
                  <a:srgbClr val="142A43"/>
                </a:solidFill>
                <a:latin typeface="Arial Bold" panose="020B0704020202020204" pitchFamily="34" charset="0"/>
                <a:cs typeface="Arial Bold" panose="020B0704020202020204" pitchFamily="34" charset="0"/>
              </a:rPr>
              <a:t>31.0%</a:t>
            </a:r>
          </a:p>
          <a:p>
            <a:r>
              <a:rPr lang="en-GB" sz="1000" dirty="0">
                <a:solidFill>
                  <a:srgbClr val="6E6E6E"/>
                </a:solidFill>
                <a:latin typeface="Arial" panose="020B0604020202020204" pitchFamily="34" charset="0"/>
                <a:cs typeface="Arial" panose="020B0604020202020204" pitchFamily="34" charset="0"/>
              </a:rPr>
              <a:t>FY30E EPS Accretion</a:t>
            </a:r>
          </a:p>
          <a:p>
            <a:endParaRPr lang="en-GB" sz="900" dirty="0">
              <a:solidFill>
                <a:srgbClr val="6E6E6E"/>
              </a:solidFill>
              <a:latin typeface="Arial" panose="020B0604020202020204" pitchFamily="34" charset="0"/>
              <a:cs typeface="Arial" panose="020B06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Procurement, distribution, head-office and revenue synergies drive progressive earnings improvement following initial integration costs.</a:t>
            </a:r>
          </a:p>
        </p:txBody>
      </p:sp>
      <p:sp>
        <p:nvSpPr>
          <p:cNvPr id="20" name="TextBox 19">
            <a:extLst>
              <a:ext uri="{FF2B5EF4-FFF2-40B4-BE49-F238E27FC236}">
                <a16:creationId xmlns:a16="http://schemas.microsoft.com/office/drawing/2014/main" id="{5E541AC2-5002-7468-6C79-A0E921232ED7}"/>
              </a:ext>
            </a:extLst>
          </p:cNvPr>
          <p:cNvSpPr txBox="1"/>
          <p:nvPr/>
        </p:nvSpPr>
        <p:spPr>
          <a:xfrm>
            <a:off x="8264400" y="1990800"/>
            <a:ext cx="3517200" cy="22392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Manageable Financial Impact</a:t>
            </a:r>
          </a:p>
          <a:p>
            <a:endParaRPr lang="en-GB" sz="1000" dirty="0">
              <a:solidFill>
                <a:srgbClr val="142A43"/>
              </a:solidFill>
              <a:latin typeface="Arial Bold" panose="020B0704020202020204" pitchFamily="34" charset="0"/>
              <a:cs typeface="Arial Bold" panose="020B0704020202020204" pitchFamily="34" charset="0"/>
            </a:endParaRPr>
          </a:p>
          <a:p>
            <a:r>
              <a:rPr lang="en-GB" sz="2400" dirty="0">
                <a:solidFill>
                  <a:srgbClr val="142A43"/>
                </a:solidFill>
                <a:latin typeface="Arial Bold" panose="020B0704020202020204" pitchFamily="34" charset="0"/>
                <a:cs typeface="Arial Bold" panose="020B0704020202020204" pitchFamily="34" charset="0"/>
              </a:rPr>
              <a:t>FY28E</a:t>
            </a:r>
          </a:p>
          <a:p>
            <a:r>
              <a:rPr lang="en-GB" sz="1000" dirty="0">
                <a:solidFill>
                  <a:srgbClr val="6E6E6E"/>
                </a:solidFill>
                <a:latin typeface="Arial" panose="020B0604020202020204" pitchFamily="34" charset="0"/>
                <a:cs typeface="Arial" panose="020B0604020202020204" pitchFamily="34" charset="0"/>
              </a:rPr>
              <a:t>First EPS Accretive year</a:t>
            </a:r>
          </a:p>
          <a:p>
            <a:endParaRPr lang="en-GB" sz="900" dirty="0">
              <a:solidFill>
                <a:srgbClr val="142A43"/>
              </a:solidFill>
              <a:latin typeface="Arial" panose="020B0604020202020204" pitchFamily="34" charset="0"/>
              <a:cs typeface="Arial" panose="020B0604020202020204" pitchFamily="34" charset="0"/>
            </a:endParaRPr>
          </a:p>
          <a:p>
            <a:r>
              <a:rPr lang="en-GB" sz="1600" dirty="0">
                <a:solidFill>
                  <a:srgbClr val="142A43"/>
                </a:solidFill>
                <a:latin typeface="Arial Bold" panose="020B0704020202020204" pitchFamily="34" charset="0"/>
                <a:cs typeface="Arial Bold" panose="020B0704020202020204" pitchFamily="34" charset="0"/>
              </a:rPr>
              <a:t>1.58x</a:t>
            </a:r>
          </a:p>
          <a:p>
            <a:r>
              <a:rPr lang="en-GB" sz="1000" dirty="0">
                <a:solidFill>
                  <a:srgbClr val="6E6E6E"/>
                </a:solidFill>
                <a:latin typeface="Arial" panose="020B0604020202020204" pitchFamily="34" charset="0"/>
                <a:cs typeface="Arial" panose="020B0604020202020204" pitchFamily="34" charset="0"/>
              </a:rPr>
              <a:t>Pro forma Net Debt / EBITDA</a:t>
            </a:r>
          </a:p>
          <a:p>
            <a:endParaRPr lang="en-GB" sz="900" dirty="0">
              <a:solidFill>
                <a:srgbClr val="6E6E6E"/>
              </a:solidFill>
              <a:latin typeface="Arial" panose="020B0604020202020204" pitchFamily="34" charset="0"/>
              <a:cs typeface="Arial" panose="020B06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Leverage increases following completion but declines to approximately 1.33x by FY30E as EBITDA and free cash flow improve.</a:t>
            </a:r>
          </a:p>
        </p:txBody>
      </p:sp>
      <p:sp>
        <p:nvSpPr>
          <p:cNvPr id="21" name="TextBox 20">
            <a:extLst>
              <a:ext uri="{FF2B5EF4-FFF2-40B4-BE49-F238E27FC236}">
                <a16:creationId xmlns:a16="http://schemas.microsoft.com/office/drawing/2014/main" id="{AFF85B48-EA8C-F35C-E550-D17A381AF968}"/>
              </a:ext>
            </a:extLst>
          </p:cNvPr>
          <p:cNvSpPr txBox="1"/>
          <p:nvPr/>
        </p:nvSpPr>
        <p:spPr>
          <a:xfrm>
            <a:off x="410400" y="4640400"/>
            <a:ext cx="11376000" cy="14580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Investment Recommendation - Proceed</a:t>
            </a:r>
          </a:p>
          <a:p>
            <a:endParaRPr lang="en-GB" sz="1100" dirty="0">
              <a:solidFill>
                <a:srgbClr val="142A43"/>
              </a:solidFill>
              <a:latin typeface="Arial Bold" panose="020B0704020202020204" pitchFamily="34" charset="0"/>
              <a:cs typeface="Arial Bold" panose="020B07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Proceed with the acquisition at the proposed 15% premium, subject to maintaining price discipline and successful execution of the integration plan. The transaction offers a compelling strategic fit, positive value creation and significant long-term earnings and cash-flow benefits.</a:t>
            </a:r>
          </a:p>
          <a:p>
            <a:endParaRPr lang="en-GB" sz="950" dirty="0">
              <a:solidFill>
                <a:schemeClr val="bg2">
                  <a:lumMod val="25000"/>
                </a:schemeClr>
              </a:solidFill>
              <a:latin typeface="Arial" panose="020B0604020202020204" pitchFamily="34" charset="0"/>
              <a:cs typeface="Arial" panose="020B0604020202020204" pitchFamily="34" charset="0"/>
            </a:endParaRPr>
          </a:p>
          <a:p>
            <a:endParaRPr lang="en-GB" sz="950" dirty="0">
              <a:solidFill>
                <a:schemeClr val="bg2">
                  <a:lumMod val="25000"/>
                </a:schemeClr>
              </a:solidFill>
              <a:latin typeface="Arial" panose="020B0604020202020204" pitchFamily="34" charset="0"/>
              <a:cs typeface="Arial" panose="020B0604020202020204" pitchFamily="34" charset="0"/>
            </a:endParaRPr>
          </a:p>
          <a:p>
            <a:r>
              <a:rPr lang="en-GB" sz="1100" dirty="0">
                <a:latin typeface="Arial Bold" panose="020B0704020202020204" pitchFamily="34" charset="0"/>
                <a:cs typeface="Arial Bold" panose="020B0704020202020204" pitchFamily="34" charset="0"/>
              </a:rPr>
              <a:t>Key consideration</a:t>
            </a:r>
            <a:r>
              <a:rPr lang="en-GB" sz="1100" dirty="0">
                <a:latin typeface="Arial" panose="020B0604020202020204" pitchFamily="34" charset="0"/>
                <a:cs typeface="Arial" panose="020B0604020202020204" pitchFamily="34" charset="0"/>
              </a:rPr>
              <a:t>: </a:t>
            </a:r>
          </a:p>
          <a:p>
            <a:r>
              <a:rPr lang="en-GB" sz="1000" dirty="0">
                <a:latin typeface="Arial" panose="020B0604020202020204" pitchFamily="34" charset="0"/>
                <a:cs typeface="Arial" panose="020B0604020202020204" pitchFamily="34" charset="0"/>
              </a:rPr>
              <a:t>Price discipline is critical: value creation falls to approximately zero at a ~20% acquisition premium</a:t>
            </a:r>
          </a:p>
        </p:txBody>
      </p:sp>
      <p:sp>
        <p:nvSpPr>
          <p:cNvPr id="22" name="TextBox 21">
            <a:extLst>
              <a:ext uri="{FF2B5EF4-FFF2-40B4-BE49-F238E27FC236}">
                <a16:creationId xmlns:a16="http://schemas.microsoft.com/office/drawing/2014/main" id="{BC61D3EC-CC38-0F92-CD77-BA1D98656C57}"/>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3C882308-EB61-F697-58C5-35792AA2EAFB}"/>
              </a:ext>
            </a:extLst>
          </p:cNvPr>
          <p:cNvSpPr txBox="1"/>
          <p:nvPr/>
        </p:nvSpPr>
        <p:spPr>
          <a:xfrm>
            <a:off x="11421600" y="6349387"/>
            <a:ext cx="360000" cy="108000"/>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70700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6585-478D-6562-D25F-CC8CDA86F1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02B463-85F4-3305-AD76-05247FD28F5F}"/>
              </a:ext>
            </a:extLst>
          </p:cNvPr>
          <p:cNvSpPr txBox="1"/>
          <p:nvPr/>
        </p:nvSpPr>
        <p:spPr>
          <a:xfrm>
            <a:off x="410400" y="410400"/>
            <a:ext cx="11372400" cy="830997"/>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Poundland offers B&amp;M an opportunity to expand its UK footprint and increase efficiencies</a:t>
            </a:r>
          </a:p>
        </p:txBody>
      </p:sp>
      <p:sp>
        <p:nvSpPr>
          <p:cNvPr id="16" name="TextBox 15">
            <a:extLst>
              <a:ext uri="{FF2B5EF4-FFF2-40B4-BE49-F238E27FC236}">
                <a16:creationId xmlns:a16="http://schemas.microsoft.com/office/drawing/2014/main" id="{53014A3E-0857-5AD0-54FE-9A56DC05ED01}"/>
              </a:ext>
            </a:extLst>
          </p:cNvPr>
          <p:cNvSpPr txBox="1"/>
          <p:nvPr/>
        </p:nvSpPr>
        <p:spPr>
          <a:xfrm>
            <a:off x="409200" y="1447199"/>
            <a:ext cx="5482800" cy="15444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Store Network</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Expand B&amp;M’s UK discount retail footprint</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Access to Poundland's established UK store network </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Complementary discount retail positioning </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Opportunity for selective estate optimisation</a:t>
            </a:r>
          </a:p>
        </p:txBody>
      </p:sp>
      <p:sp>
        <p:nvSpPr>
          <p:cNvPr id="21" name="TextBox 20">
            <a:extLst>
              <a:ext uri="{FF2B5EF4-FFF2-40B4-BE49-F238E27FC236}">
                <a16:creationId xmlns:a16="http://schemas.microsoft.com/office/drawing/2014/main" id="{82290C9E-2559-5AF5-6EFD-3A7EE10D43BB}"/>
              </a:ext>
            </a:extLst>
          </p:cNvPr>
          <p:cNvSpPr txBox="1"/>
          <p:nvPr/>
        </p:nvSpPr>
        <p:spPr>
          <a:xfrm>
            <a:off x="405600" y="5354992"/>
            <a:ext cx="11376000" cy="800219"/>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Investment Logic</a:t>
            </a:r>
          </a:p>
          <a:p>
            <a:endParaRPr lang="en-GB" sz="1100" dirty="0">
              <a:solidFill>
                <a:srgbClr val="142A43"/>
              </a:solidFill>
              <a:latin typeface="Arial Bold" panose="020B0704020202020204" pitchFamily="34" charset="0"/>
              <a:cs typeface="Arial Bold" panose="020B07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The strategic rationale is strongest where B&amp;M's scale, procurement capabilities and operating expertise can address Poundland's weaker profitability. However, the acquisition case remains dependent on successful execution and paying an appropriate price.</a:t>
            </a:r>
            <a:endParaRPr lang="en-GB" sz="950" dirty="0">
              <a:solidFill>
                <a:schemeClr val="bg2">
                  <a:lumMod val="25000"/>
                </a:schemeClr>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BD2415EA-92B5-B3DF-3CC0-BD5E5469BB6F}"/>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EBB41AF0-62F9-42BA-6D75-E3ADD4EDA28B}"/>
              </a:ext>
            </a:extLst>
          </p:cNvPr>
          <p:cNvSpPr txBox="1"/>
          <p:nvPr/>
        </p:nvSpPr>
        <p:spPr>
          <a:xfrm>
            <a:off x="11421600" y="6349387"/>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2</a:t>
            </a:r>
          </a:p>
        </p:txBody>
      </p:sp>
      <p:sp>
        <p:nvSpPr>
          <p:cNvPr id="3" name="TextBox 2">
            <a:extLst>
              <a:ext uri="{FF2B5EF4-FFF2-40B4-BE49-F238E27FC236}">
                <a16:creationId xmlns:a16="http://schemas.microsoft.com/office/drawing/2014/main" id="{ABBF73FA-E6DF-FA7B-3F3D-26E23764CE05}"/>
              </a:ext>
            </a:extLst>
          </p:cNvPr>
          <p:cNvSpPr txBox="1"/>
          <p:nvPr/>
        </p:nvSpPr>
        <p:spPr>
          <a:xfrm>
            <a:off x="6298800" y="3397897"/>
            <a:ext cx="5482800" cy="15444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Operating Model</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Apply B&amp;M's scale and capabilities to Poundland</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Head-office consolidation</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Technology and marketing efficiencies</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Store rationalisation</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Potential improvement in Poundland's operating margin</a:t>
            </a:r>
          </a:p>
        </p:txBody>
      </p:sp>
      <p:sp>
        <p:nvSpPr>
          <p:cNvPr id="6" name="TextBox 5">
            <a:extLst>
              <a:ext uri="{FF2B5EF4-FFF2-40B4-BE49-F238E27FC236}">
                <a16:creationId xmlns:a16="http://schemas.microsoft.com/office/drawing/2014/main" id="{4EEC8927-D6A2-C4BE-00B5-1DCE771DD988}"/>
              </a:ext>
            </a:extLst>
          </p:cNvPr>
          <p:cNvSpPr txBox="1"/>
          <p:nvPr/>
        </p:nvSpPr>
        <p:spPr>
          <a:xfrm>
            <a:off x="410400" y="3402000"/>
            <a:ext cx="5482800" cy="15444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Customer &amp; Revenue</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Unlock incremental revenue opportunities</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Cross-selling across complementary customer bases</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Increased basket size</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Customer base optimisation</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Improved use of the combined store network</a:t>
            </a:r>
          </a:p>
        </p:txBody>
      </p:sp>
      <p:sp>
        <p:nvSpPr>
          <p:cNvPr id="10" name="TextBox 9">
            <a:extLst>
              <a:ext uri="{FF2B5EF4-FFF2-40B4-BE49-F238E27FC236}">
                <a16:creationId xmlns:a16="http://schemas.microsoft.com/office/drawing/2014/main" id="{D6B95B21-1DBC-1B73-7458-8E81EE3B5C86}"/>
              </a:ext>
            </a:extLst>
          </p:cNvPr>
          <p:cNvSpPr txBox="1"/>
          <p:nvPr/>
        </p:nvSpPr>
        <p:spPr>
          <a:xfrm>
            <a:off x="6298800" y="1444905"/>
            <a:ext cx="5482800" cy="15444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Procurement &amp; Distribution</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Leverage the scale of the combined business</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Greater combined purchasing volumes</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Improved supplier negotiating leverage</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Distribution and logistics optimisation</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Potential reduction in duplicated infrastructure</a:t>
            </a:r>
          </a:p>
        </p:txBody>
      </p:sp>
    </p:spTree>
    <p:extLst>
      <p:ext uri="{BB962C8B-B14F-4D97-AF65-F5344CB8AC3E}">
        <p14:creationId xmlns:p14="http://schemas.microsoft.com/office/powerpoint/2010/main" val="2088144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F5537-BF40-F091-FB26-E6995A7B59BD}"/>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8548C6E9-83DE-DF16-BA89-4E58078327DB}"/>
              </a:ext>
            </a:extLst>
          </p:cNvPr>
          <p:cNvSpPr txBox="1"/>
          <p:nvPr/>
        </p:nvSpPr>
        <p:spPr>
          <a:xfrm>
            <a:off x="5735400" y="3610800"/>
            <a:ext cx="6044400" cy="13572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Purchase Price Bridge</a:t>
            </a:r>
            <a:endParaRPr lang="en-GB" sz="1000" dirty="0">
              <a:solidFill>
                <a:srgbClr val="142A43"/>
              </a:solidFill>
              <a:latin typeface="Arial Bold" panose="020B0704020202020204" pitchFamily="34" charset="0"/>
              <a:cs typeface="Arial Bold" panose="020B0704020202020204" pitchFamily="34" charset="0"/>
            </a:endParaRPr>
          </a:p>
          <a:p>
            <a:endParaRPr lang="en-GB" sz="1000" dirty="0">
              <a:solidFill>
                <a:srgbClr val="6E6E6E"/>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C32EE32-161E-E946-A8F4-7652CBE7BF0F}"/>
              </a:ext>
            </a:extLst>
          </p:cNvPr>
          <p:cNvSpPr txBox="1"/>
          <p:nvPr/>
        </p:nvSpPr>
        <p:spPr>
          <a:xfrm>
            <a:off x="410400" y="410400"/>
            <a:ext cx="11372400" cy="830997"/>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B&amp;M is acquiring Poundland at a 15% premium, implying a £434m transaction EV</a:t>
            </a:r>
          </a:p>
        </p:txBody>
      </p:sp>
      <p:sp>
        <p:nvSpPr>
          <p:cNvPr id="21" name="TextBox 20">
            <a:extLst>
              <a:ext uri="{FF2B5EF4-FFF2-40B4-BE49-F238E27FC236}">
                <a16:creationId xmlns:a16="http://schemas.microsoft.com/office/drawing/2014/main" id="{C2116500-0377-4579-FACD-692878598F26}"/>
              </a:ext>
            </a:extLst>
          </p:cNvPr>
          <p:cNvSpPr txBox="1"/>
          <p:nvPr/>
        </p:nvSpPr>
        <p:spPr>
          <a:xfrm>
            <a:off x="405600" y="5354992"/>
            <a:ext cx="11376000" cy="800219"/>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Valuation Takeaway</a:t>
            </a:r>
          </a:p>
          <a:p>
            <a:endParaRPr lang="en-GB" sz="1100" dirty="0">
              <a:solidFill>
                <a:srgbClr val="142A43"/>
              </a:solidFill>
              <a:latin typeface="Arial Bold" panose="020B0704020202020204" pitchFamily="34" charset="0"/>
              <a:cs typeface="Arial Bold" panose="020B07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The proposed £386.9m equity purchase price represents a 15% premium to standalone value and implies an 8.43x FY26E EBITDA multiple, modestly above the 8.08x peer median. The premium is supported by the strategic rationale and anticipated synergies, while remaining below the ~20% maximum value-creating premium.</a:t>
            </a:r>
            <a:endParaRPr lang="en-GB" sz="950" dirty="0">
              <a:solidFill>
                <a:schemeClr val="bg2">
                  <a:lumMod val="25000"/>
                </a:schemeClr>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DB651F1C-EDB3-226B-5600-90901CD1E53B}"/>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FEDE1C51-C69B-AE4E-E384-0C6618A57FBC}"/>
              </a:ext>
            </a:extLst>
          </p:cNvPr>
          <p:cNvSpPr txBox="1"/>
          <p:nvPr/>
        </p:nvSpPr>
        <p:spPr>
          <a:xfrm>
            <a:off x="11421600" y="6349387"/>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3</a:t>
            </a:r>
          </a:p>
        </p:txBody>
      </p:sp>
      <p:graphicFrame>
        <p:nvGraphicFramePr>
          <p:cNvPr id="2" name="Table 1">
            <a:extLst>
              <a:ext uri="{FF2B5EF4-FFF2-40B4-BE49-F238E27FC236}">
                <a16:creationId xmlns:a16="http://schemas.microsoft.com/office/drawing/2014/main" id="{C7BF6CDE-B423-E905-4BF6-9781EA5FD492}"/>
              </a:ext>
            </a:extLst>
          </p:cNvPr>
          <p:cNvGraphicFramePr>
            <a:graphicFrameLocks noGrp="1"/>
          </p:cNvGraphicFramePr>
          <p:nvPr>
            <p:extLst>
              <p:ext uri="{D42A27DB-BD31-4B8C-83A1-F6EECF244321}">
                <p14:modId xmlns:p14="http://schemas.microsoft.com/office/powerpoint/2010/main" val="1968789509"/>
              </p:ext>
            </p:extLst>
          </p:nvPr>
        </p:nvGraphicFramePr>
        <p:xfrm>
          <a:off x="410398" y="1447199"/>
          <a:ext cx="4919174" cy="3521614"/>
        </p:xfrm>
        <a:graphic>
          <a:graphicData uri="http://schemas.openxmlformats.org/drawingml/2006/table">
            <a:tbl>
              <a:tblPr>
                <a:tableStyleId>{2D5ABB26-0587-4C30-8999-92F81FD0307C}</a:tableStyleId>
              </a:tblPr>
              <a:tblGrid>
                <a:gridCol w="2448960">
                  <a:extLst>
                    <a:ext uri="{9D8B030D-6E8A-4147-A177-3AD203B41FA5}">
                      <a16:colId xmlns:a16="http://schemas.microsoft.com/office/drawing/2014/main" val="3301146629"/>
                    </a:ext>
                  </a:extLst>
                </a:gridCol>
                <a:gridCol w="2470214">
                  <a:extLst>
                    <a:ext uri="{9D8B030D-6E8A-4147-A177-3AD203B41FA5}">
                      <a16:colId xmlns:a16="http://schemas.microsoft.com/office/drawing/2014/main" val="3271972755"/>
                    </a:ext>
                  </a:extLst>
                </a:gridCol>
              </a:tblGrid>
              <a:tr h="316698">
                <a:tc gridSpan="2">
                  <a:txBody>
                    <a:bodyPr/>
                    <a:lstStyle/>
                    <a:p>
                      <a:pPr>
                        <a:buNone/>
                      </a:pPr>
                      <a:r>
                        <a:rPr lang="en-GB" sz="1300" dirty="0">
                          <a:solidFill>
                            <a:srgbClr val="142A43"/>
                          </a:solidFill>
                          <a:latin typeface="Arial Bold" panose="020B0704020202020204" pitchFamily="34" charset="0"/>
                          <a:cs typeface="Arial Bold" panose="020B0704020202020204" pitchFamily="34" charset="0"/>
                        </a:rPr>
                        <a:t>Transaction Overview</a:t>
                      </a:r>
                    </a:p>
                  </a:txBody>
                  <a:tcPr marL="90653" marR="90653" marT="45326" marB="45326" anchor="ctr">
                    <a:lnB w="12700" cap="flat" cmpd="sng" algn="ctr">
                      <a:solidFill>
                        <a:schemeClr val="tx1"/>
                      </a:solidFill>
                      <a:prstDash val="solid"/>
                      <a:round/>
                      <a:headEnd type="none" w="med" len="med"/>
                      <a:tailEnd type="none" w="med" len="med"/>
                    </a:lnB>
                    <a:solidFill>
                      <a:srgbClr val="F2F4F6"/>
                    </a:solidFill>
                  </a:tcPr>
                </a:tc>
                <a:tc hMerge="1">
                  <a:txBody>
                    <a:bodyPr/>
                    <a:lstStyle/>
                    <a:p>
                      <a:pPr algn="r">
                        <a:buNone/>
                      </a:pPr>
                      <a:endParaRPr lang="en-GB" sz="1100" dirty="0">
                        <a:latin typeface="Arial" panose="020B0604020202020204" pitchFamily="34" charset="0"/>
                        <a:cs typeface="Arial" panose="020B0604020202020204" pitchFamily="34" charset="0"/>
                      </a:endParaRPr>
                    </a:p>
                  </a:txBody>
                  <a:tcPr marL="90653" marR="90653" marT="45326" marB="45326" anchor="ctr">
                    <a:solidFill>
                      <a:srgbClr val="F2F4F6"/>
                    </a:solidFill>
                  </a:tcPr>
                </a:tc>
                <a:extLst>
                  <a:ext uri="{0D108BD9-81ED-4DB2-BD59-A6C34878D82A}">
                    <a16:rowId xmlns:a16="http://schemas.microsoft.com/office/drawing/2014/main" val="2625185720"/>
                  </a:ext>
                </a:extLst>
              </a:tr>
              <a:tr h="283270">
                <a:tc>
                  <a:txBody>
                    <a:bodyPr/>
                    <a:lstStyle/>
                    <a:p>
                      <a:pPr>
                        <a:buNone/>
                      </a:pPr>
                      <a:r>
                        <a:rPr lang="en-GB" sz="1100" dirty="0">
                          <a:latin typeface="Arial" panose="020B0604020202020204" pitchFamily="34" charset="0"/>
                          <a:cs typeface="Arial" panose="020B0604020202020204" pitchFamily="34" charset="0"/>
                        </a:rPr>
                        <a:t>Transaction Date</a:t>
                      </a:r>
                    </a:p>
                  </a:txBody>
                  <a:tcPr marL="90653" marR="90653" marT="45326" marB="45326" anchor="ctr">
                    <a:lnT w="12700" cap="flat" cmpd="sng" algn="ctr">
                      <a:solidFill>
                        <a:schemeClr val="tx1"/>
                      </a:solidFill>
                      <a:prstDash val="solid"/>
                      <a:round/>
                      <a:headEnd type="none" w="med" len="med"/>
                      <a:tailEnd type="none" w="med" len="med"/>
                    </a:lnT>
                    <a:solidFill>
                      <a:srgbClr val="F2F4F6"/>
                    </a:solidFill>
                  </a:tcPr>
                </a:tc>
                <a:tc>
                  <a:txBody>
                    <a:bodyPr/>
                    <a:lstStyle/>
                    <a:p>
                      <a:pPr algn="r">
                        <a:buNone/>
                      </a:pPr>
                      <a:r>
                        <a:rPr lang="en-GB" sz="1100" dirty="0">
                          <a:latin typeface="Arial" panose="020B0604020202020204" pitchFamily="34" charset="0"/>
                          <a:cs typeface="Arial" panose="020B0604020202020204" pitchFamily="34" charset="0"/>
                        </a:rPr>
                        <a:t>21 Aug 2026</a:t>
                      </a:r>
                    </a:p>
                  </a:txBody>
                  <a:tcPr marL="90653" marR="90653" marT="45326" marB="45326" anchor="ctr">
                    <a:lnT w="12700" cap="flat" cmpd="sng" algn="ctr">
                      <a:solidFill>
                        <a:schemeClr val="tx1"/>
                      </a:solidFill>
                      <a:prstDash val="solid"/>
                      <a:round/>
                      <a:headEnd type="none" w="med" len="med"/>
                      <a:tailEnd type="none" w="med" len="med"/>
                    </a:lnT>
                    <a:solidFill>
                      <a:srgbClr val="F2F4F6"/>
                    </a:solidFill>
                  </a:tcPr>
                </a:tc>
                <a:extLst>
                  <a:ext uri="{0D108BD9-81ED-4DB2-BD59-A6C34878D82A}">
                    <a16:rowId xmlns:a16="http://schemas.microsoft.com/office/drawing/2014/main" val="3957801000"/>
                  </a:ext>
                </a:extLst>
              </a:tr>
              <a:tr h="283270">
                <a:tc>
                  <a:txBody>
                    <a:bodyPr/>
                    <a:lstStyle/>
                    <a:p>
                      <a:pPr>
                        <a:buNone/>
                      </a:pPr>
                      <a:r>
                        <a:rPr lang="en-GB" sz="1100" dirty="0">
                          <a:latin typeface="Arial" panose="020B0604020202020204" pitchFamily="34" charset="0"/>
                          <a:cs typeface="Arial" panose="020B0604020202020204" pitchFamily="34" charset="0"/>
                        </a:rPr>
                        <a:t>Acquirer</a:t>
                      </a:r>
                    </a:p>
                  </a:txBody>
                  <a:tcPr marL="90653" marR="90653" marT="45326" marB="45326" anchor="ctr">
                    <a:solidFill>
                      <a:srgbClr val="F2F4F6"/>
                    </a:solidFill>
                  </a:tcPr>
                </a:tc>
                <a:tc>
                  <a:txBody>
                    <a:bodyPr/>
                    <a:lstStyle/>
                    <a:p>
                      <a:pPr algn="r">
                        <a:buNone/>
                      </a:pPr>
                      <a:r>
                        <a:rPr lang="en-GB" sz="1100" dirty="0">
                          <a:latin typeface="Arial" panose="020B0604020202020204" pitchFamily="34" charset="0"/>
                          <a:cs typeface="Arial" panose="020B0604020202020204" pitchFamily="34" charset="0"/>
                        </a:rPr>
                        <a:t>B&amp;M</a:t>
                      </a:r>
                    </a:p>
                  </a:txBody>
                  <a:tcPr marL="90653" marR="90653" marT="45326" marB="45326" anchor="ctr">
                    <a:solidFill>
                      <a:srgbClr val="F2F4F6"/>
                    </a:solidFill>
                  </a:tcPr>
                </a:tc>
                <a:extLst>
                  <a:ext uri="{0D108BD9-81ED-4DB2-BD59-A6C34878D82A}">
                    <a16:rowId xmlns:a16="http://schemas.microsoft.com/office/drawing/2014/main" val="1097525753"/>
                  </a:ext>
                </a:extLst>
              </a:tr>
              <a:tr h="283270">
                <a:tc>
                  <a:txBody>
                    <a:bodyPr/>
                    <a:lstStyle/>
                    <a:p>
                      <a:pPr>
                        <a:buNone/>
                      </a:pPr>
                      <a:r>
                        <a:rPr lang="en-GB" sz="1100" dirty="0">
                          <a:latin typeface="Arial" panose="020B0604020202020204" pitchFamily="34" charset="0"/>
                          <a:cs typeface="Arial" panose="020B0604020202020204" pitchFamily="34" charset="0"/>
                        </a:rPr>
                        <a:t>Target</a:t>
                      </a:r>
                    </a:p>
                  </a:txBody>
                  <a:tcPr marL="90653" marR="90653" marT="45326" marB="45326" anchor="ctr">
                    <a:solidFill>
                      <a:srgbClr val="F2F4F6"/>
                    </a:solidFill>
                  </a:tcPr>
                </a:tc>
                <a:tc>
                  <a:txBody>
                    <a:bodyPr/>
                    <a:lstStyle/>
                    <a:p>
                      <a:pPr algn="r">
                        <a:buNone/>
                      </a:pPr>
                      <a:r>
                        <a:rPr lang="en-GB" sz="1100" dirty="0">
                          <a:latin typeface="Arial" panose="020B0604020202020204" pitchFamily="34" charset="0"/>
                          <a:cs typeface="Arial" panose="020B0604020202020204" pitchFamily="34" charset="0"/>
                        </a:rPr>
                        <a:t>Poundland</a:t>
                      </a:r>
                    </a:p>
                  </a:txBody>
                  <a:tcPr marL="90653" marR="90653" marT="45326" marB="45326" anchor="ctr">
                    <a:solidFill>
                      <a:srgbClr val="F2F4F6"/>
                    </a:solidFill>
                  </a:tcPr>
                </a:tc>
                <a:extLst>
                  <a:ext uri="{0D108BD9-81ED-4DB2-BD59-A6C34878D82A}">
                    <a16:rowId xmlns:a16="http://schemas.microsoft.com/office/drawing/2014/main" val="2798717383"/>
                  </a:ext>
                </a:extLst>
              </a:tr>
              <a:tr h="283270">
                <a:tc>
                  <a:txBody>
                    <a:bodyPr/>
                    <a:lstStyle/>
                    <a:p>
                      <a:pPr>
                        <a:buNone/>
                      </a:pPr>
                      <a:endParaRPr lang="en-GB" sz="1100" dirty="0">
                        <a:latin typeface="Arial" panose="020B0604020202020204" pitchFamily="34" charset="0"/>
                        <a:cs typeface="Arial" panose="020B0604020202020204" pitchFamily="34" charset="0"/>
                      </a:endParaRPr>
                    </a:p>
                  </a:txBody>
                  <a:tcPr marL="90653" marR="90653" marT="45326" marB="45326" anchor="ctr">
                    <a:solidFill>
                      <a:srgbClr val="F2F4F6"/>
                    </a:solidFill>
                  </a:tcPr>
                </a:tc>
                <a:tc>
                  <a:txBody>
                    <a:bodyPr/>
                    <a:lstStyle/>
                    <a:p>
                      <a:pPr algn="r">
                        <a:buNone/>
                      </a:pPr>
                      <a:endParaRPr lang="en-GB" sz="1100" dirty="0">
                        <a:latin typeface="Arial" panose="020B0604020202020204" pitchFamily="34" charset="0"/>
                        <a:cs typeface="Arial" panose="020B0604020202020204" pitchFamily="34" charset="0"/>
                      </a:endParaRPr>
                    </a:p>
                  </a:txBody>
                  <a:tcPr marL="90653" marR="90653" marT="45326" marB="45326" anchor="ctr">
                    <a:solidFill>
                      <a:srgbClr val="F2F4F6"/>
                    </a:solidFill>
                  </a:tcPr>
                </a:tc>
                <a:extLst>
                  <a:ext uri="{0D108BD9-81ED-4DB2-BD59-A6C34878D82A}">
                    <a16:rowId xmlns:a16="http://schemas.microsoft.com/office/drawing/2014/main" val="3100424851"/>
                  </a:ext>
                </a:extLst>
              </a:tr>
              <a:tr h="327743">
                <a:tc>
                  <a:txBody>
                    <a:bodyPr/>
                    <a:lstStyle/>
                    <a:p>
                      <a:pPr>
                        <a:buNone/>
                      </a:pPr>
                      <a:r>
                        <a:rPr lang="en-GB" sz="1100" dirty="0">
                          <a:latin typeface="Arial" panose="020B0604020202020204" pitchFamily="34" charset="0"/>
                          <a:cs typeface="Arial" panose="020B0604020202020204" pitchFamily="34" charset="0"/>
                        </a:rPr>
                        <a:t>Standalone Value</a:t>
                      </a:r>
                    </a:p>
                  </a:txBody>
                  <a:tcPr marL="90653" marR="90653" marT="45326" marB="45326" anchor="ctr">
                    <a:solidFill>
                      <a:srgbClr val="F2F4F6"/>
                    </a:solidFill>
                  </a:tcPr>
                </a:tc>
                <a:tc>
                  <a:txBody>
                    <a:bodyPr/>
                    <a:lstStyle/>
                    <a:p>
                      <a:pPr algn="r">
                        <a:buNone/>
                      </a:pPr>
                      <a:r>
                        <a:rPr lang="en-GB" sz="1100" b="0" dirty="0">
                          <a:latin typeface="Arial" panose="020B0604020202020204" pitchFamily="34" charset="0"/>
                          <a:cs typeface="Arial" panose="020B0604020202020204" pitchFamily="34" charset="0"/>
                        </a:rPr>
                        <a:t>£336.4m</a:t>
                      </a:r>
                    </a:p>
                  </a:txBody>
                  <a:tcPr marL="90653" marR="90653" marT="45326" marB="45326" anchor="ctr">
                    <a:solidFill>
                      <a:srgbClr val="F2F4F6"/>
                    </a:solidFill>
                  </a:tcPr>
                </a:tc>
                <a:extLst>
                  <a:ext uri="{0D108BD9-81ED-4DB2-BD59-A6C34878D82A}">
                    <a16:rowId xmlns:a16="http://schemas.microsoft.com/office/drawing/2014/main" val="2885414008"/>
                  </a:ext>
                </a:extLst>
              </a:tr>
              <a:tr h="283270">
                <a:tc>
                  <a:txBody>
                    <a:bodyPr/>
                    <a:lstStyle/>
                    <a:p>
                      <a:pPr>
                        <a:buNone/>
                      </a:pPr>
                      <a:r>
                        <a:rPr lang="en-GB" sz="1100" dirty="0">
                          <a:latin typeface="Arial" panose="020B0604020202020204" pitchFamily="34" charset="0"/>
                          <a:cs typeface="Arial" panose="020B0604020202020204" pitchFamily="34" charset="0"/>
                        </a:rPr>
                        <a:t>Acquisition Premium</a:t>
                      </a:r>
                    </a:p>
                  </a:txBody>
                  <a:tcPr marL="90653" marR="90653" marT="45326" marB="45326" anchor="ctr">
                    <a:solidFill>
                      <a:srgbClr val="F2F4F6"/>
                    </a:solidFill>
                  </a:tcPr>
                </a:tc>
                <a:tc>
                  <a:txBody>
                    <a:bodyPr/>
                    <a:lstStyle/>
                    <a:p>
                      <a:pPr algn="r">
                        <a:buNone/>
                      </a:pPr>
                      <a:r>
                        <a:rPr lang="en-GB" sz="1100" b="1" dirty="0">
                          <a:latin typeface="Arial" panose="020B0604020202020204" pitchFamily="34" charset="0"/>
                          <a:cs typeface="Arial" panose="020B0604020202020204" pitchFamily="34" charset="0"/>
                        </a:rPr>
                        <a:t>15.0%</a:t>
                      </a:r>
                    </a:p>
                  </a:txBody>
                  <a:tcPr marL="90653" marR="90653" marT="45326" marB="45326" anchor="ctr">
                    <a:solidFill>
                      <a:srgbClr val="F2F4F6"/>
                    </a:solidFill>
                  </a:tcPr>
                </a:tc>
                <a:extLst>
                  <a:ext uri="{0D108BD9-81ED-4DB2-BD59-A6C34878D82A}">
                    <a16:rowId xmlns:a16="http://schemas.microsoft.com/office/drawing/2014/main" val="1410242667"/>
                  </a:ext>
                </a:extLst>
              </a:tr>
              <a:tr h="283270">
                <a:tc>
                  <a:txBody>
                    <a:bodyPr/>
                    <a:lstStyle/>
                    <a:p>
                      <a:pPr>
                        <a:buNone/>
                      </a:pPr>
                      <a:r>
                        <a:rPr lang="en-GB" sz="1100" dirty="0">
                          <a:latin typeface="Arial" panose="020B0604020202020204" pitchFamily="34" charset="0"/>
                          <a:cs typeface="Arial" panose="020B0604020202020204" pitchFamily="34" charset="0"/>
                        </a:rPr>
                        <a:t>Equity Purchase Price</a:t>
                      </a:r>
                    </a:p>
                  </a:txBody>
                  <a:tcPr marL="90653" marR="90653" marT="45326" marB="45326" anchor="ctr">
                    <a:solidFill>
                      <a:srgbClr val="F2F4F6"/>
                    </a:solidFill>
                  </a:tcPr>
                </a:tc>
                <a:tc>
                  <a:txBody>
                    <a:bodyPr/>
                    <a:lstStyle/>
                    <a:p>
                      <a:pPr algn="r">
                        <a:buNone/>
                      </a:pPr>
                      <a:r>
                        <a:rPr lang="en-GB" sz="1100" b="1" dirty="0">
                          <a:latin typeface="Arial" panose="020B0604020202020204" pitchFamily="34" charset="0"/>
                          <a:cs typeface="Arial" panose="020B0604020202020204" pitchFamily="34" charset="0"/>
                        </a:rPr>
                        <a:t>£386.9m</a:t>
                      </a:r>
                    </a:p>
                  </a:txBody>
                  <a:tcPr marL="90653" marR="90653" marT="45326" marB="45326" anchor="ctr">
                    <a:solidFill>
                      <a:srgbClr val="F2F4F6"/>
                    </a:solidFill>
                  </a:tcPr>
                </a:tc>
                <a:extLst>
                  <a:ext uri="{0D108BD9-81ED-4DB2-BD59-A6C34878D82A}">
                    <a16:rowId xmlns:a16="http://schemas.microsoft.com/office/drawing/2014/main" val="4132711055"/>
                  </a:ext>
                </a:extLst>
              </a:tr>
              <a:tr h="283270">
                <a:tc>
                  <a:txBody>
                    <a:bodyPr/>
                    <a:lstStyle/>
                    <a:p>
                      <a:pPr>
                        <a:buNone/>
                      </a:pPr>
                      <a:r>
                        <a:rPr lang="en-GB" sz="1100" dirty="0">
                          <a:latin typeface="Arial" panose="020B0604020202020204" pitchFamily="34" charset="0"/>
                          <a:cs typeface="Arial" panose="020B0604020202020204" pitchFamily="34" charset="0"/>
                        </a:rPr>
                        <a:t>Target Net Debt</a:t>
                      </a:r>
                    </a:p>
                  </a:txBody>
                  <a:tcPr marL="90653" marR="90653" marT="45326" marB="45326" anchor="ctr">
                    <a:lnB w="12700" cap="flat" cmpd="sng" algn="ctr">
                      <a:solidFill>
                        <a:schemeClr val="tx1"/>
                      </a:solidFill>
                      <a:prstDash val="solid"/>
                      <a:round/>
                      <a:headEnd type="none" w="med" len="med"/>
                      <a:tailEnd type="none" w="med" len="med"/>
                    </a:lnB>
                    <a:solidFill>
                      <a:srgbClr val="F2F4F6"/>
                    </a:solidFill>
                  </a:tcPr>
                </a:tc>
                <a:tc>
                  <a:txBody>
                    <a:bodyPr/>
                    <a:lstStyle/>
                    <a:p>
                      <a:pPr algn="r">
                        <a:buNone/>
                      </a:pPr>
                      <a:r>
                        <a:rPr lang="en-GB" sz="1100" b="0" dirty="0">
                          <a:latin typeface="Arial" panose="020B0604020202020204" pitchFamily="34" charset="0"/>
                          <a:cs typeface="Arial" panose="020B0604020202020204" pitchFamily="34" charset="0"/>
                        </a:rPr>
                        <a:t>£47.5m</a:t>
                      </a:r>
                    </a:p>
                  </a:txBody>
                  <a:tcPr marL="90653" marR="90653" marT="45326" marB="45326" anchor="ctr">
                    <a:lnB w="12700" cap="flat" cmpd="sng" algn="ctr">
                      <a:solidFill>
                        <a:schemeClr val="tx1"/>
                      </a:solidFill>
                      <a:prstDash val="solid"/>
                      <a:round/>
                      <a:headEnd type="none" w="med" len="med"/>
                      <a:tailEnd type="none" w="med" len="med"/>
                    </a:lnB>
                    <a:solidFill>
                      <a:srgbClr val="F2F4F6"/>
                    </a:solidFill>
                  </a:tcPr>
                </a:tc>
                <a:extLst>
                  <a:ext uri="{0D108BD9-81ED-4DB2-BD59-A6C34878D82A}">
                    <a16:rowId xmlns:a16="http://schemas.microsoft.com/office/drawing/2014/main" val="1954343265"/>
                  </a:ext>
                </a:extLst>
              </a:tr>
              <a:tr h="327743">
                <a:tc>
                  <a:txBody>
                    <a:bodyPr/>
                    <a:lstStyle/>
                    <a:p>
                      <a:pPr>
                        <a:buNone/>
                      </a:pPr>
                      <a:r>
                        <a:rPr lang="en-GB" sz="1100" dirty="0">
                          <a:latin typeface="Arial" panose="020B0604020202020204" pitchFamily="34" charset="0"/>
                          <a:cs typeface="Arial" panose="020B0604020202020204" pitchFamily="34" charset="0"/>
                        </a:rPr>
                        <a:t>Transaction EV</a:t>
                      </a:r>
                    </a:p>
                  </a:txBody>
                  <a:tcPr marL="90653" marR="90653" marT="45326" marB="45326" anchor="ctr">
                    <a:lnT w="12700" cap="flat" cmpd="sng" algn="ctr">
                      <a:solidFill>
                        <a:schemeClr val="tx1"/>
                      </a:solidFill>
                      <a:prstDash val="solid"/>
                      <a:round/>
                      <a:headEnd type="none" w="med" len="med"/>
                      <a:tailEnd type="none" w="med" len="med"/>
                    </a:lnT>
                    <a:solidFill>
                      <a:srgbClr val="F2F4F6"/>
                    </a:solidFill>
                  </a:tcPr>
                </a:tc>
                <a:tc>
                  <a:txBody>
                    <a:bodyPr/>
                    <a:lstStyle/>
                    <a:p>
                      <a:pPr algn="r">
                        <a:buNone/>
                      </a:pPr>
                      <a:r>
                        <a:rPr lang="en-GB" sz="1100" b="0" dirty="0">
                          <a:latin typeface="Arial" panose="020B0604020202020204" pitchFamily="34" charset="0"/>
                          <a:cs typeface="Arial" panose="020B0604020202020204" pitchFamily="34" charset="0"/>
                        </a:rPr>
                        <a:t>£434.3m</a:t>
                      </a:r>
                    </a:p>
                  </a:txBody>
                  <a:tcPr marL="90653" marR="90653" marT="45326" marB="45326" anchor="ctr">
                    <a:lnT w="12700" cap="flat" cmpd="sng" algn="ctr">
                      <a:solidFill>
                        <a:schemeClr val="tx1"/>
                      </a:solidFill>
                      <a:prstDash val="solid"/>
                      <a:round/>
                      <a:headEnd type="none" w="med" len="med"/>
                      <a:tailEnd type="none" w="med" len="med"/>
                    </a:lnT>
                    <a:solidFill>
                      <a:srgbClr val="F2F4F6"/>
                    </a:solidFill>
                  </a:tcPr>
                </a:tc>
                <a:extLst>
                  <a:ext uri="{0D108BD9-81ED-4DB2-BD59-A6C34878D82A}">
                    <a16:rowId xmlns:a16="http://schemas.microsoft.com/office/drawing/2014/main" val="384440328"/>
                  </a:ext>
                </a:extLst>
              </a:tr>
              <a:tr h="283270">
                <a:tc>
                  <a:txBody>
                    <a:bodyPr/>
                    <a:lstStyle/>
                    <a:p>
                      <a:pPr>
                        <a:buNone/>
                      </a:pPr>
                      <a:r>
                        <a:rPr lang="en-GB" sz="1100" dirty="0">
                          <a:latin typeface="Arial" panose="020B0604020202020204" pitchFamily="34" charset="0"/>
                          <a:cs typeface="Arial" panose="020B0604020202020204" pitchFamily="34" charset="0"/>
                        </a:rPr>
                        <a:t>Transaction Fee</a:t>
                      </a:r>
                    </a:p>
                  </a:txBody>
                  <a:tcPr marL="90653" marR="90653" marT="45326" marB="45326" anchor="ctr">
                    <a:lnB w="28575" cap="flat" cmpd="sng" algn="ctr">
                      <a:solidFill>
                        <a:schemeClr val="tx1"/>
                      </a:solidFill>
                      <a:prstDash val="solid"/>
                      <a:round/>
                      <a:headEnd type="none" w="med" len="med"/>
                      <a:tailEnd type="none" w="med" len="med"/>
                    </a:lnB>
                    <a:solidFill>
                      <a:srgbClr val="F2F4F6"/>
                    </a:solidFill>
                  </a:tcPr>
                </a:tc>
                <a:tc>
                  <a:txBody>
                    <a:bodyPr/>
                    <a:lstStyle/>
                    <a:p>
                      <a:pPr algn="r">
                        <a:buNone/>
                      </a:pPr>
                      <a:r>
                        <a:rPr lang="en-GB" sz="1100" dirty="0">
                          <a:latin typeface="Arial" panose="020B0604020202020204" pitchFamily="34" charset="0"/>
                          <a:cs typeface="Arial" panose="020B0604020202020204" pitchFamily="34" charset="0"/>
                        </a:rPr>
                        <a:t>£3.9m</a:t>
                      </a:r>
                    </a:p>
                  </a:txBody>
                  <a:tcPr marL="90653" marR="90653" marT="45326" marB="45326" anchor="ctr">
                    <a:lnB w="28575" cap="flat" cmpd="sng" algn="ctr">
                      <a:solidFill>
                        <a:schemeClr val="tx1"/>
                      </a:solidFill>
                      <a:prstDash val="solid"/>
                      <a:round/>
                      <a:headEnd type="none" w="med" len="med"/>
                      <a:tailEnd type="none" w="med" len="med"/>
                    </a:lnB>
                    <a:solidFill>
                      <a:srgbClr val="F2F4F6"/>
                    </a:solidFill>
                  </a:tcPr>
                </a:tc>
                <a:extLst>
                  <a:ext uri="{0D108BD9-81ED-4DB2-BD59-A6C34878D82A}">
                    <a16:rowId xmlns:a16="http://schemas.microsoft.com/office/drawing/2014/main" val="1277530515"/>
                  </a:ext>
                </a:extLst>
              </a:tr>
              <a:tr h="283270">
                <a:tc>
                  <a:txBody>
                    <a:bodyPr/>
                    <a:lstStyle/>
                    <a:p>
                      <a:pPr>
                        <a:buNone/>
                      </a:pPr>
                      <a:r>
                        <a:rPr lang="en-GB" sz="1100" dirty="0">
                          <a:latin typeface="Arial" panose="020B0604020202020204" pitchFamily="34" charset="0"/>
                          <a:cs typeface="Arial" panose="020B0604020202020204" pitchFamily="34" charset="0"/>
                        </a:rPr>
                        <a:t>Total Deal Cost</a:t>
                      </a:r>
                    </a:p>
                  </a:txBody>
                  <a:tcPr marL="90653" marR="90653" marT="45326" marB="45326" anchor="ctr">
                    <a:lnT w="28575" cap="flat" cmpd="sng" algn="ctr">
                      <a:solidFill>
                        <a:schemeClr val="tx1"/>
                      </a:solidFill>
                      <a:prstDash val="solid"/>
                      <a:round/>
                      <a:headEnd type="none" w="med" len="med"/>
                      <a:tailEnd type="none" w="med" len="med"/>
                    </a:lnT>
                    <a:solidFill>
                      <a:srgbClr val="F2F4F6"/>
                    </a:solidFill>
                  </a:tcPr>
                </a:tc>
                <a:tc>
                  <a:txBody>
                    <a:bodyPr/>
                    <a:lstStyle/>
                    <a:p>
                      <a:pPr algn="r">
                        <a:buNone/>
                      </a:pPr>
                      <a:r>
                        <a:rPr lang="en-GB" sz="1100" b="1" dirty="0">
                          <a:latin typeface="Arial" panose="020B0604020202020204" pitchFamily="34" charset="0"/>
                          <a:cs typeface="Arial" panose="020B0604020202020204" pitchFamily="34" charset="0"/>
                        </a:rPr>
                        <a:t>£438.2m</a:t>
                      </a:r>
                    </a:p>
                  </a:txBody>
                  <a:tcPr marL="90653" marR="90653" marT="45326" marB="45326" anchor="ctr">
                    <a:lnT w="28575" cap="flat" cmpd="sng" algn="ctr">
                      <a:solidFill>
                        <a:schemeClr val="tx1"/>
                      </a:solidFill>
                      <a:prstDash val="solid"/>
                      <a:round/>
                      <a:headEnd type="none" w="med" len="med"/>
                      <a:tailEnd type="none" w="med" len="med"/>
                    </a:lnT>
                    <a:solidFill>
                      <a:srgbClr val="F2F4F6"/>
                    </a:solidFill>
                  </a:tcPr>
                </a:tc>
                <a:extLst>
                  <a:ext uri="{0D108BD9-81ED-4DB2-BD59-A6C34878D82A}">
                    <a16:rowId xmlns:a16="http://schemas.microsoft.com/office/drawing/2014/main" val="632915791"/>
                  </a:ext>
                </a:extLst>
              </a:tr>
            </a:tbl>
          </a:graphicData>
        </a:graphic>
      </p:graphicFrame>
      <p:sp>
        <p:nvSpPr>
          <p:cNvPr id="7" name="TextBox 6">
            <a:extLst>
              <a:ext uri="{FF2B5EF4-FFF2-40B4-BE49-F238E27FC236}">
                <a16:creationId xmlns:a16="http://schemas.microsoft.com/office/drawing/2014/main" id="{EC3D9815-2B8D-A38A-70FD-0DE2FB57BCF8}"/>
              </a:ext>
            </a:extLst>
          </p:cNvPr>
          <p:cNvSpPr txBox="1"/>
          <p:nvPr/>
        </p:nvSpPr>
        <p:spPr>
          <a:xfrm>
            <a:off x="5737200" y="1447199"/>
            <a:ext cx="3024000" cy="969496"/>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Transaction Valuation</a:t>
            </a:r>
          </a:p>
          <a:p>
            <a:endParaRPr lang="en-GB" sz="1000" dirty="0">
              <a:solidFill>
                <a:srgbClr val="142A43"/>
              </a:solidFill>
              <a:latin typeface="Arial Bold" panose="020B0704020202020204" pitchFamily="34" charset="0"/>
              <a:cs typeface="Arial Bold" panose="020B0704020202020204" pitchFamily="34" charset="0"/>
            </a:endParaRPr>
          </a:p>
          <a:p>
            <a:r>
              <a:rPr lang="en-GB" sz="2400" dirty="0">
                <a:solidFill>
                  <a:srgbClr val="142A43"/>
                </a:solidFill>
                <a:latin typeface="Arial Bold" panose="020B0704020202020204" pitchFamily="34" charset="0"/>
                <a:cs typeface="Arial Bold" panose="020B0704020202020204" pitchFamily="34" charset="0"/>
              </a:rPr>
              <a:t>8.43x</a:t>
            </a:r>
          </a:p>
          <a:p>
            <a:r>
              <a:rPr lang="en-GB" sz="1000" dirty="0">
                <a:solidFill>
                  <a:srgbClr val="6E6E6E"/>
                </a:solidFill>
                <a:latin typeface="Arial" panose="020B0604020202020204" pitchFamily="34" charset="0"/>
                <a:cs typeface="Arial" panose="020B0604020202020204" pitchFamily="34" charset="0"/>
              </a:rPr>
              <a:t>FY26E EV / EBITDA</a:t>
            </a:r>
          </a:p>
        </p:txBody>
      </p:sp>
      <p:sp>
        <p:nvSpPr>
          <p:cNvPr id="15" name="TextBox 14">
            <a:extLst>
              <a:ext uri="{FF2B5EF4-FFF2-40B4-BE49-F238E27FC236}">
                <a16:creationId xmlns:a16="http://schemas.microsoft.com/office/drawing/2014/main" id="{38B10C52-A668-81B1-F3FD-FDF98292BAB5}"/>
              </a:ext>
            </a:extLst>
          </p:cNvPr>
          <p:cNvSpPr txBox="1"/>
          <p:nvPr/>
        </p:nvSpPr>
        <p:spPr>
          <a:xfrm>
            <a:off x="8757600" y="1447199"/>
            <a:ext cx="3024000" cy="969496"/>
          </a:xfrm>
          <a:prstGeom prst="rect">
            <a:avLst/>
          </a:prstGeom>
          <a:solidFill>
            <a:srgbClr val="F2F4F6"/>
          </a:solidFill>
        </p:spPr>
        <p:txBody>
          <a:bodyPr wrap="square" rtlCol="0">
            <a:spAutoFit/>
          </a:bodyPr>
          <a:lstStyle/>
          <a:p>
            <a:endParaRPr lang="en-GB" sz="1300" dirty="0">
              <a:solidFill>
                <a:srgbClr val="142A43"/>
              </a:solidFill>
              <a:latin typeface="Arial Bold" panose="020B0704020202020204" pitchFamily="34" charset="0"/>
              <a:cs typeface="Arial Bold" panose="020B07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endParaRPr lang="en-GB" sz="100" dirty="0">
              <a:solidFill>
                <a:srgbClr val="142A43"/>
              </a:solidFill>
              <a:latin typeface="Arial" panose="020B0604020202020204" pitchFamily="34" charset="0"/>
              <a:cs typeface="Arial" panose="020B0604020202020204" pitchFamily="34" charset="0"/>
            </a:endParaRPr>
          </a:p>
          <a:p>
            <a:r>
              <a:rPr lang="en-GB" sz="1600" dirty="0">
                <a:solidFill>
                  <a:srgbClr val="142A43"/>
                </a:solidFill>
                <a:latin typeface="Arial Bold" panose="020B0704020202020204" pitchFamily="34" charset="0"/>
                <a:cs typeface="Arial Bold" panose="020B0704020202020204" pitchFamily="34" charset="0"/>
              </a:rPr>
              <a:t>0.30x</a:t>
            </a:r>
          </a:p>
          <a:p>
            <a:r>
              <a:rPr lang="en-GB" sz="1000" dirty="0">
                <a:solidFill>
                  <a:srgbClr val="6E6E6E"/>
                </a:solidFill>
                <a:latin typeface="Arial" panose="020B0604020202020204" pitchFamily="34" charset="0"/>
                <a:cs typeface="Arial" panose="020B0604020202020204" pitchFamily="34" charset="0"/>
              </a:rPr>
              <a:t>FY26E EV / Revenue</a:t>
            </a:r>
          </a:p>
        </p:txBody>
      </p:sp>
      <p:sp>
        <p:nvSpPr>
          <p:cNvPr id="18" name="TextBox 17">
            <a:extLst>
              <a:ext uri="{FF2B5EF4-FFF2-40B4-BE49-F238E27FC236}">
                <a16:creationId xmlns:a16="http://schemas.microsoft.com/office/drawing/2014/main" id="{69040E34-6037-463F-4A91-FDACA165E67F}"/>
              </a:ext>
            </a:extLst>
          </p:cNvPr>
          <p:cNvSpPr txBox="1"/>
          <p:nvPr/>
        </p:nvSpPr>
        <p:spPr>
          <a:xfrm>
            <a:off x="5737200" y="2620800"/>
            <a:ext cx="6042600" cy="78483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FY26E EV / EBITDA</a:t>
            </a:r>
            <a:endParaRPr lang="en-GB" sz="1000" dirty="0">
              <a:solidFill>
                <a:srgbClr val="142A43"/>
              </a:solidFill>
              <a:latin typeface="Arial Bold" panose="020B0704020202020204" pitchFamily="34" charset="0"/>
              <a:cs typeface="Arial Bold" panose="020B0704020202020204" pitchFamily="34" charset="0"/>
            </a:endParaRPr>
          </a:p>
          <a:p>
            <a:endParaRPr lang="en-GB" sz="1000" dirty="0">
              <a:solidFill>
                <a:srgbClr val="6E6E6E"/>
              </a:solidFill>
              <a:latin typeface="Arial" panose="020B0604020202020204" pitchFamily="34" charset="0"/>
              <a:cs typeface="Arial" panose="020B0604020202020204" pitchFamily="34" charset="0"/>
            </a:endParaRPr>
          </a:p>
          <a:p>
            <a:pPr lvl="0"/>
            <a:r>
              <a:rPr lang="en-GB" sz="1100" dirty="0">
                <a:solidFill>
                  <a:schemeClr val="bg2">
                    <a:lumMod val="25000"/>
                  </a:schemeClr>
                </a:solidFill>
                <a:latin typeface="Arial" panose="020B0604020202020204" pitchFamily="34" charset="0"/>
                <a:cs typeface="Arial" panose="020B0604020202020204" pitchFamily="34" charset="0"/>
              </a:rPr>
              <a:t>Poundland</a:t>
            </a:r>
          </a:p>
          <a:p>
            <a:pPr lvl="0"/>
            <a:r>
              <a:rPr lang="en-GB" sz="1100" dirty="0">
                <a:solidFill>
                  <a:schemeClr val="bg2">
                    <a:lumMod val="25000"/>
                  </a:schemeClr>
                </a:solidFill>
                <a:latin typeface="Arial" panose="020B0604020202020204" pitchFamily="34" charset="0"/>
                <a:cs typeface="Arial" panose="020B0604020202020204" pitchFamily="34" charset="0"/>
              </a:rPr>
              <a:t>Peer Median</a:t>
            </a:r>
          </a:p>
        </p:txBody>
      </p:sp>
      <p:graphicFrame>
        <p:nvGraphicFramePr>
          <p:cNvPr id="26" name="Chart 25">
            <a:extLst>
              <a:ext uri="{FF2B5EF4-FFF2-40B4-BE49-F238E27FC236}">
                <a16:creationId xmlns:a16="http://schemas.microsoft.com/office/drawing/2014/main" id="{2E29636B-84DE-1333-E9EE-2A9C3F3203BB}"/>
              </a:ext>
            </a:extLst>
          </p:cNvPr>
          <p:cNvGraphicFramePr/>
          <p:nvPr>
            <p:extLst>
              <p:ext uri="{D42A27DB-BD31-4B8C-83A1-F6EECF244321}">
                <p14:modId xmlns:p14="http://schemas.microsoft.com/office/powerpoint/2010/main" val="91874162"/>
              </p:ext>
            </p:extLst>
          </p:nvPr>
        </p:nvGraphicFramePr>
        <p:xfrm>
          <a:off x="6682426" y="2884319"/>
          <a:ext cx="5299118" cy="612879"/>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mc:Choice xmlns:cx1="http://schemas.microsoft.com/office/drawing/2015/9/8/chartex" Requires="cx1">
          <p:graphicFrame>
            <p:nvGraphicFramePr>
              <p:cNvPr id="29" name="Chart 28">
                <a:extLst>
                  <a:ext uri="{FF2B5EF4-FFF2-40B4-BE49-F238E27FC236}">
                    <a16:creationId xmlns:a16="http://schemas.microsoft.com/office/drawing/2014/main" id="{8E605243-2F76-CFBE-E62A-CDEC035C472A}"/>
                  </a:ext>
                </a:extLst>
              </p:cNvPr>
              <p:cNvGraphicFramePr/>
              <p:nvPr>
                <p:extLst>
                  <p:ext uri="{D42A27DB-BD31-4B8C-83A1-F6EECF244321}">
                    <p14:modId xmlns:p14="http://schemas.microsoft.com/office/powerpoint/2010/main" val="2069236203"/>
                  </p:ext>
                </p:extLst>
              </p:nvPr>
            </p:nvGraphicFramePr>
            <p:xfrm>
              <a:off x="5735400" y="3669149"/>
              <a:ext cx="6044400" cy="1348957"/>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29" name="Chart 28">
                <a:extLst>
                  <a:ext uri="{FF2B5EF4-FFF2-40B4-BE49-F238E27FC236}">
                    <a16:creationId xmlns:a16="http://schemas.microsoft.com/office/drawing/2014/main" id="{8E605243-2F76-CFBE-E62A-CDEC035C472A}"/>
                  </a:ext>
                </a:extLst>
              </p:cNvPr>
              <p:cNvPicPr>
                <a:picLocks noGrp="1" noRot="1" noChangeAspect="1" noMove="1" noResize="1" noEditPoints="1" noAdjustHandles="1" noChangeArrowheads="1" noChangeShapeType="1"/>
              </p:cNvPicPr>
              <p:nvPr/>
            </p:nvPicPr>
            <p:blipFill>
              <a:blip r:embed="rId4"/>
              <a:stretch>
                <a:fillRect/>
              </a:stretch>
            </p:blipFill>
            <p:spPr>
              <a:xfrm>
                <a:off x="5735400" y="3669149"/>
                <a:ext cx="6044400" cy="1348957"/>
              </a:xfrm>
              <a:prstGeom prst="rect">
                <a:avLst/>
              </a:prstGeom>
            </p:spPr>
          </p:pic>
        </mc:Fallback>
      </mc:AlternateContent>
    </p:spTree>
    <p:extLst>
      <p:ext uri="{BB962C8B-B14F-4D97-AF65-F5344CB8AC3E}">
        <p14:creationId xmlns:p14="http://schemas.microsoft.com/office/powerpoint/2010/main" val="207458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99D06-3FF1-3720-3483-1AA5A01E7A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7FF968-1F44-D5A3-C59E-B1027FDD5C22}"/>
              </a:ext>
            </a:extLst>
          </p:cNvPr>
          <p:cNvSpPr txBox="1"/>
          <p:nvPr/>
        </p:nvSpPr>
        <p:spPr>
          <a:xfrm>
            <a:off x="410400" y="410400"/>
            <a:ext cx="11372400" cy="830997"/>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Poundland's £336m standalone valuation is supported by both DCF and trading comparables</a:t>
            </a:r>
          </a:p>
        </p:txBody>
      </p:sp>
      <p:sp>
        <p:nvSpPr>
          <p:cNvPr id="21" name="TextBox 20">
            <a:extLst>
              <a:ext uri="{FF2B5EF4-FFF2-40B4-BE49-F238E27FC236}">
                <a16:creationId xmlns:a16="http://schemas.microsoft.com/office/drawing/2014/main" id="{E0E365B3-0FDB-A74F-9D60-41B7C4F8F839}"/>
              </a:ext>
            </a:extLst>
          </p:cNvPr>
          <p:cNvSpPr txBox="1"/>
          <p:nvPr/>
        </p:nvSpPr>
        <p:spPr>
          <a:xfrm>
            <a:off x="409200" y="5278048"/>
            <a:ext cx="11376000" cy="954107"/>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Selected Standalone Equity Value: £336.4m</a:t>
            </a:r>
          </a:p>
          <a:p>
            <a:r>
              <a:rPr lang="en-GB" sz="1000" dirty="0">
                <a:solidFill>
                  <a:srgbClr val="6E6E6E"/>
                </a:solidFill>
                <a:latin typeface="Arial" panose="020B0604020202020204" pitchFamily="34" charset="0"/>
                <a:cs typeface="Arial" panose="020B0604020202020204" pitchFamily="34" charset="0"/>
              </a:rPr>
              <a:t>50% DCF / 50% Comparable Companies</a:t>
            </a:r>
            <a:endParaRPr lang="en-GB" sz="1000" dirty="0">
              <a:solidFill>
                <a:srgbClr val="142A43"/>
              </a:solidFill>
              <a:latin typeface="Arial" panose="020B0604020202020204" pitchFamily="34" charset="0"/>
              <a:cs typeface="Arial" panose="020B0604020202020204" pitchFamily="34" charset="0"/>
            </a:endParaRPr>
          </a:p>
          <a:p>
            <a:endParaRPr lang="en-GB" sz="1100" dirty="0">
              <a:solidFill>
                <a:srgbClr val="142A43"/>
              </a:solidFill>
              <a:latin typeface="Arial Bold" panose="020B0704020202020204" pitchFamily="34" charset="0"/>
              <a:cs typeface="Arial Bold" panose="020B07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The selected value sits between the DCF and comparable-company base cases, providing a balanced assessment of Poundland's standalone value. Adding the proposed 15% premium gets the £386.9m equity purchase price.</a:t>
            </a:r>
            <a:endParaRPr lang="en-GB" sz="950" dirty="0">
              <a:solidFill>
                <a:schemeClr val="bg2">
                  <a:lumMod val="25000"/>
                </a:schemeClr>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3A9D8615-4D98-270F-775C-15739232CC36}"/>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43162C9E-5E77-348F-CA0F-AF40D80A5925}"/>
              </a:ext>
            </a:extLst>
          </p:cNvPr>
          <p:cNvSpPr txBox="1"/>
          <p:nvPr/>
        </p:nvSpPr>
        <p:spPr>
          <a:xfrm>
            <a:off x="11421600" y="6349387"/>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4</a:t>
            </a:r>
          </a:p>
        </p:txBody>
      </p:sp>
      <p:sp>
        <p:nvSpPr>
          <p:cNvPr id="3" name="TextBox 2">
            <a:extLst>
              <a:ext uri="{FF2B5EF4-FFF2-40B4-BE49-F238E27FC236}">
                <a16:creationId xmlns:a16="http://schemas.microsoft.com/office/drawing/2014/main" id="{B9A034F7-222B-8D1E-DB44-385659CD7EA9}"/>
              </a:ext>
            </a:extLst>
          </p:cNvPr>
          <p:cNvSpPr txBox="1"/>
          <p:nvPr/>
        </p:nvSpPr>
        <p:spPr>
          <a:xfrm>
            <a:off x="6201600" y="3124097"/>
            <a:ext cx="5583600" cy="1954381"/>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Trading Comparables – 50%</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Base Equity Value: £347.2m</a:t>
            </a:r>
          </a:p>
          <a:p>
            <a:pPr lvl="0"/>
            <a:endParaRPr lang="en-GB" sz="1000" dirty="0">
              <a:solidFill>
                <a:srgbClr val="6E6E6E"/>
              </a:solidFill>
              <a:latin typeface="Arial" panose="020B0604020202020204" pitchFamily="34" charset="0"/>
              <a:cs typeface="Arial" panose="020B0604020202020204" pitchFamily="34" charset="0"/>
            </a:endParaRPr>
          </a:p>
          <a:p>
            <a:pPr lvl="0"/>
            <a:r>
              <a:rPr lang="en-GB" sz="1100" b="1" dirty="0">
                <a:solidFill>
                  <a:srgbClr val="142A43"/>
                </a:solidFill>
                <a:latin typeface="Arial" panose="020B0604020202020204" pitchFamily="34" charset="0"/>
                <a:cs typeface="Arial" panose="020B0604020202020204" pitchFamily="34" charset="0"/>
              </a:rPr>
              <a:t>Peer set:</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B&amp;M</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Pepco</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Dollar General</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Dollar Tree</a:t>
            </a: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r>
              <a:rPr lang="en-GB" sz="1100" dirty="0">
                <a:solidFill>
                  <a:schemeClr val="bg2">
                    <a:lumMod val="25000"/>
                  </a:schemeClr>
                </a:solidFill>
                <a:latin typeface="Arial" panose="020B0604020202020204" pitchFamily="34" charset="0"/>
                <a:cs typeface="Arial" panose="020B0604020202020204" pitchFamily="34" charset="0"/>
              </a:rPr>
              <a:t>Lower-end multiples reflect Poundland's weaker current profitability and restructuring position.</a:t>
            </a:r>
          </a:p>
        </p:txBody>
      </p:sp>
      <p:sp>
        <p:nvSpPr>
          <p:cNvPr id="6" name="TextBox 5">
            <a:extLst>
              <a:ext uri="{FF2B5EF4-FFF2-40B4-BE49-F238E27FC236}">
                <a16:creationId xmlns:a16="http://schemas.microsoft.com/office/drawing/2014/main" id="{5B5562F8-5ED9-F25E-9532-45BE01F8BB2D}"/>
              </a:ext>
            </a:extLst>
          </p:cNvPr>
          <p:cNvSpPr txBox="1"/>
          <p:nvPr/>
        </p:nvSpPr>
        <p:spPr>
          <a:xfrm>
            <a:off x="409200" y="3128399"/>
            <a:ext cx="5583600" cy="19548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DCF – 50%</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Base Equity Value: </a:t>
            </a:r>
            <a:r>
              <a:rPr lang="en-GB" sz="1000" b="1" dirty="0">
                <a:solidFill>
                  <a:srgbClr val="6E6E6E"/>
                </a:solidFill>
                <a:latin typeface="Arial" panose="020B0604020202020204" pitchFamily="34" charset="0"/>
                <a:cs typeface="Arial" panose="020B0604020202020204" pitchFamily="34" charset="0"/>
              </a:rPr>
              <a:t>£325.6m</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WACC: </a:t>
            </a:r>
            <a:r>
              <a:rPr lang="en-GB" sz="1100" b="1" dirty="0">
                <a:solidFill>
                  <a:schemeClr val="bg2">
                    <a:lumMod val="25000"/>
                  </a:schemeClr>
                </a:solidFill>
                <a:latin typeface="Arial" panose="020B0604020202020204" pitchFamily="34" charset="0"/>
                <a:cs typeface="Arial" panose="020B0604020202020204" pitchFamily="34" charset="0"/>
              </a:rPr>
              <a:t>9.0%</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Terminal Growth: </a:t>
            </a:r>
            <a:r>
              <a:rPr lang="en-GB" sz="1100" b="1" dirty="0">
                <a:solidFill>
                  <a:schemeClr val="bg2">
                    <a:lumMod val="25000"/>
                  </a:schemeClr>
                </a:solidFill>
                <a:latin typeface="Arial" panose="020B0604020202020204" pitchFamily="34" charset="0"/>
                <a:cs typeface="Arial" panose="020B0604020202020204" pitchFamily="34" charset="0"/>
              </a:rPr>
              <a:t>2.0%</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Forecast period: </a:t>
            </a:r>
            <a:r>
              <a:rPr lang="en-GB" sz="1100" b="1" dirty="0">
                <a:solidFill>
                  <a:schemeClr val="bg2">
                    <a:lumMod val="25000"/>
                  </a:schemeClr>
                </a:solidFill>
                <a:latin typeface="Arial" panose="020B0604020202020204" pitchFamily="34" charset="0"/>
                <a:cs typeface="Arial" panose="020B0604020202020204" pitchFamily="34" charset="0"/>
              </a:rPr>
              <a:t>FY26E–FY30E</a:t>
            </a: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r>
              <a:rPr lang="en-GB" sz="1100" dirty="0">
                <a:solidFill>
                  <a:schemeClr val="bg2">
                    <a:lumMod val="25000"/>
                  </a:schemeClr>
                </a:solidFill>
                <a:latin typeface="Arial" panose="020B0604020202020204" pitchFamily="34" charset="0"/>
                <a:cs typeface="Arial" panose="020B0604020202020204" pitchFamily="34" charset="0"/>
              </a:rPr>
              <a:t>DCF reflects Poundland's expected recovery in profitability and cash generation following restructuring.</a:t>
            </a:r>
          </a:p>
        </p:txBody>
      </p:sp>
      <p:sp>
        <p:nvSpPr>
          <p:cNvPr id="5" name="TextBox 4">
            <a:extLst>
              <a:ext uri="{FF2B5EF4-FFF2-40B4-BE49-F238E27FC236}">
                <a16:creationId xmlns:a16="http://schemas.microsoft.com/office/drawing/2014/main" id="{14D75A71-88E0-0B53-B118-DB5C2140AEBC}"/>
              </a:ext>
            </a:extLst>
          </p:cNvPr>
          <p:cNvSpPr txBox="1"/>
          <p:nvPr/>
        </p:nvSpPr>
        <p:spPr>
          <a:xfrm>
            <a:off x="8929942" y="3124097"/>
            <a:ext cx="2848057" cy="1461939"/>
          </a:xfrm>
          <a:prstGeom prst="rect">
            <a:avLst/>
          </a:prstGeom>
          <a:solidFill>
            <a:srgbClr val="F2F4F6"/>
          </a:solidFill>
        </p:spPr>
        <p:txBody>
          <a:bodyPr wrap="square" rtlCol="0">
            <a:spAutoFit/>
          </a:bodyPr>
          <a:lstStyle/>
          <a:p>
            <a:endParaRPr lang="en-GB" sz="1000" dirty="0">
              <a:solidFill>
                <a:srgbClr val="142A43"/>
              </a:solidFill>
              <a:latin typeface="Arial Bold" panose="020B0704020202020204" pitchFamily="34" charset="0"/>
              <a:cs typeface="Arial Bold" panose="020B0704020202020204" pitchFamily="34" charset="0"/>
            </a:endParaRPr>
          </a:p>
          <a:p>
            <a:endParaRPr lang="en-GB" sz="1000" dirty="0">
              <a:solidFill>
                <a:srgbClr val="6E6E6E"/>
              </a:solidFill>
              <a:latin typeface="Arial" panose="020B0604020202020204" pitchFamily="34" charset="0"/>
              <a:cs typeface="Arial" panose="020B0604020202020204" pitchFamily="34" charset="0"/>
            </a:endParaRPr>
          </a:p>
          <a:p>
            <a:endParaRPr lang="en-GB" sz="1100" dirty="0">
              <a:solidFill>
                <a:schemeClr val="bg2">
                  <a:lumMod val="25000"/>
                </a:schemeClr>
              </a:solidFill>
              <a:latin typeface="Arial" panose="020B0604020202020204" pitchFamily="34" charset="0"/>
              <a:cs typeface="Arial" panose="020B0604020202020204" pitchFamily="34" charset="0"/>
            </a:endParaRPr>
          </a:p>
          <a:p>
            <a:pPr lvl="0"/>
            <a:r>
              <a:rPr lang="en-GB" sz="1100" b="1" dirty="0">
                <a:solidFill>
                  <a:srgbClr val="142A43"/>
                </a:solidFill>
                <a:latin typeface="Arial" panose="020B0604020202020204" pitchFamily="34" charset="0"/>
                <a:cs typeface="Arial" panose="020B0604020202020204" pitchFamily="34" charset="0"/>
              </a:rPr>
              <a:t>Selected Poundland multiples:</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EV / Revenue: </a:t>
            </a:r>
            <a:r>
              <a:rPr lang="en-GB" sz="1100" b="1" dirty="0">
                <a:solidFill>
                  <a:schemeClr val="bg2">
                    <a:lumMod val="25000"/>
                  </a:schemeClr>
                </a:solidFill>
                <a:latin typeface="Arial" panose="020B0604020202020204" pitchFamily="34" charset="0"/>
                <a:cs typeface="Arial" panose="020B0604020202020204" pitchFamily="34" charset="0"/>
              </a:rPr>
              <a:t>0.53x</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EV / EBITDA: </a:t>
            </a:r>
            <a:r>
              <a:rPr lang="en-GB" sz="1100" b="1" dirty="0">
                <a:solidFill>
                  <a:schemeClr val="bg2">
                    <a:lumMod val="25000"/>
                  </a:schemeClr>
                </a:solidFill>
                <a:latin typeface="Arial" panose="020B0604020202020204" pitchFamily="34" charset="0"/>
                <a:cs typeface="Arial" panose="020B0604020202020204" pitchFamily="34" charset="0"/>
              </a:rPr>
              <a:t>4.5x</a:t>
            </a: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E3E5FFC-8A45-80BE-DAA0-4AE2ECD6953C}"/>
              </a:ext>
            </a:extLst>
          </p:cNvPr>
          <p:cNvSpPr txBox="1"/>
          <p:nvPr/>
        </p:nvSpPr>
        <p:spPr>
          <a:xfrm>
            <a:off x="405599" y="1447200"/>
            <a:ext cx="11372400" cy="1477328"/>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Poundland Standalone Equity Value (£m)</a:t>
            </a:r>
            <a:endParaRPr lang="en-GB" sz="1000" dirty="0">
              <a:solidFill>
                <a:srgbClr val="142A43"/>
              </a:solidFill>
              <a:latin typeface="Arial Bold" panose="020B0704020202020204" pitchFamily="34" charset="0"/>
              <a:cs typeface="Arial Bold" panose="020B07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r>
              <a:rPr lang="en-GB" sz="1100" b="1" dirty="0">
                <a:solidFill>
                  <a:schemeClr val="bg2">
                    <a:lumMod val="25000"/>
                  </a:schemeClr>
                </a:solidFill>
                <a:latin typeface="Arial" panose="020B0604020202020204" pitchFamily="34" charset="0"/>
                <a:cs typeface="Arial" panose="020B0604020202020204" pitchFamily="34" charset="0"/>
              </a:rPr>
              <a:t>DCF</a:t>
            </a:r>
          </a:p>
          <a:p>
            <a:pPr lvl="0"/>
            <a:r>
              <a:rPr lang="en-GB" sz="1100" dirty="0">
                <a:solidFill>
                  <a:schemeClr val="bg2">
                    <a:lumMod val="25000"/>
                  </a:schemeClr>
                </a:solidFill>
                <a:latin typeface="Arial" panose="020B0604020202020204" pitchFamily="34" charset="0"/>
                <a:cs typeface="Arial" panose="020B0604020202020204" pitchFamily="34" charset="0"/>
              </a:rPr>
              <a:t>	     £243			                       £326						           £473</a:t>
            </a:r>
          </a:p>
          <a:p>
            <a:pPr lvl="0"/>
            <a:r>
              <a:rPr lang="en-GB" sz="1100" b="1" dirty="0">
                <a:solidFill>
                  <a:schemeClr val="bg2">
                    <a:lumMod val="25000"/>
                  </a:schemeClr>
                </a:solidFill>
                <a:latin typeface="Arial" panose="020B0604020202020204" pitchFamily="34" charset="0"/>
                <a:cs typeface="Arial" panose="020B0604020202020204" pitchFamily="34" charset="0"/>
              </a:rPr>
              <a:t>Comparables</a:t>
            </a:r>
          </a:p>
          <a:p>
            <a:pPr lvl="0"/>
            <a:r>
              <a:rPr lang="en-GB" sz="1100" dirty="0">
                <a:solidFill>
                  <a:schemeClr val="bg2">
                    <a:lumMod val="25000"/>
                  </a:schemeClr>
                </a:solidFill>
                <a:latin typeface="Arial" panose="020B0604020202020204" pitchFamily="34" charset="0"/>
                <a:cs typeface="Arial" panose="020B0604020202020204" pitchFamily="34" charset="0"/>
              </a:rPr>
              <a:t>			   £285		                      £347		               £409</a:t>
            </a:r>
          </a:p>
          <a:p>
            <a:pPr lvl="0"/>
            <a:r>
              <a:rPr lang="en-GB" sz="1100" b="1" dirty="0">
                <a:solidFill>
                  <a:schemeClr val="bg2">
                    <a:lumMod val="25000"/>
                  </a:schemeClr>
                </a:solidFill>
                <a:latin typeface="Arial" panose="020B0604020202020204" pitchFamily="34" charset="0"/>
                <a:cs typeface="Arial" panose="020B0604020202020204" pitchFamily="34" charset="0"/>
              </a:rPr>
              <a:t>Blended</a:t>
            </a:r>
          </a:p>
          <a:p>
            <a:pPr lvl="0"/>
            <a:r>
              <a:rPr lang="en-GB" sz="1100" dirty="0">
                <a:solidFill>
                  <a:schemeClr val="bg2">
                    <a:lumMod val="25000"/>
                  </a:schemeClr>
                </a:solidFill>
                <a:latin typeface="Arial" panose="020B0604020202020204" pitchFamily="34" charset="0"/>
                <a:cs typeface="Arial" panose="020B0604020202020204" pitchFamily="34" charset="0"/>
              </a:rPr>
              <a:t>		     £264			          £336					 £441</a:t>
            </a:r>
          </a:p>
        </p:txBody>
      </p:sp>
      <p:cxnSp>
        <p:nvCxnSpPr>
          <p:cNvPr id="11" name="Straight Connector 10">
            <a:extLst>
              <a:ext uri="{FF2B5EF4-FFF2-40B4-BE49-F238E27FC236}">
                <a16:creationId xmlns:a16="http://schemas.microsoft.com/office/drawing/2014/main" id="{60C74B62-8565-D979-0774-7B7A28EB8320}"/>
              </a:ext>
            </a:extLst>
          </p:cNvPr>
          <p:cNvCxnSpPr/>
          <p:nvPr/>
        </p:nvCxnSpPr>
        <p:spPr>
          <a:xfrm>
            <a:off x="1799999" y="1939905"/>
            <a:ext cx="9360000" cy="0"/>
          </a:xfrm>
          <a:prstGeom prst="line">
            <a:avLst/>
          </a:prstGeom>
          <a:ln w="22225">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0B4B86D-0785-A701-7AEF-B115D8283C5A}"/>
              </a:ext>
            </a:extLst>
          </p:cNvPr>
          <p:cNvCxnSpPr/>
          <p:nvPr/>
        </p:nvCxnSpPr>
        <p:spPr>
          <a:xfrm>
            <a:off x="3510000" y="2276455"/>
            <a:ext cx="5047200" cy="0"/>
          </a:xfrm>
          <a:prstGeom prst="line">
            <a:avLst/>
          </a:prstGeom>
          <a:ln w="22225">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DCB5284-676B-E2CB-D302-6F381EFCB5E9}"/>
              </a:ext>
            </a:extLst>
          </p:cNvPr>
          <p:cNvCxnSpPr/>
          <p:nvPr/>
        </p:nvCxnSpPr>
        <p:spPr>
          <a:xfrm>
            <a:off x="2653200" y="2613316"/>
            <a:ext cx="7200000" cy="0"/>
          </a:xfrm>
          <a:prstGeom prst="line">
            <a:avLst/>
          </a:prstGeom>
          <a:ln w="22225"/>
        </p:spPr>
        <p:style>
          <a:lnRef idx="2">
            <a:schemeClr val="accent1"/>
          </a:lnRef>
          <a:fillRef idx="0">
            <a:schemeClr val="accent1"/>
          </a:fillRef>
          <a:effectRef idx="1">
            <a:schemeClr val="accent1"/>
          </a:effectRef>
          <a:fontRef idx="minor">
            <a:schemeClr val="tx1"/>
          </a:fontRef>
        </p:style>
      </p:cxnSp>
      <p:sp>
        <p:nvSpPr>
          <p:cNvPr id="14" name="Flowchart: Connector 13">
            <a:extLst>
              <a:ext uri="{FF2B5EF4-FFF2-40B4-BE49-F238E27FC236}">
                <a16:creationId xmlns:a16="http://schemas.microsoft.com/office/drawing/2014/main" id="{6490A061-3305-12E1-097B-18ADA7C972D3}"/>
              </a:ext>
            </a:extLst>
          </p:cNvPr>
          <p:cNvSpPr/>
          <p:nvPr/>
        </p:nvSpPr>
        <p:spPr>
          <a:xfrm>
            <a:off x="6033600" y="2240455"/>
            <a:ext cx="72000" cy="72000"/>
          </a:xfrm>
          <a:prstGeom prst="flowChartConnector">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lowchart: Connector 23">
            <a:extLst>
              <a:ext uri="{FF2B5EF4-FFF2-40B4-BE49-F238E27FC236}">
                <a16:creationId xmlns:a16="http://schemas.microsoft.com/office/drawing/2014/main" id="{0A443357-6BD4-2A29-3343-83DEC97CA384}"/>
              </a:ext>
            </a:extLst>
          </p:cNvPr>
          <p:cNvSpPr/>
          <p:nvPr/>
        </p:nvSpPr>
        <p:spPr>
          <a:xfrm>
            <a:off x="5176800" y="1902832"/>
            <a:ext cx="72000" cy="72000"/>
          </a:xfrm>
          <a:prstGeom prst="flowChartConnector">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lowchart: Connector 25">
            <a:extLst>
              <a:ext uri="{FF2B5EF4-FFF2-40B4-BE49-F238E27FC236}">
                <a16:creationId xmlns:a16="http://schemas.microsoft.com/office/drawing/2014/main" id="{98A3819D-D50A-1BC0-729C-C61C2830130D}"/>
              </a:ext>
            </a:extLst>
          </p:cNvPr>
          <p:cNvSpPr/>
          <p:nvPr/>
        </p:nvSpPr>
        <p:spPr>
          <a:xfrm>
            <a:off x="5583600" y="2578079"/>
            <a:ext cx="72000" cy="72000"/>
          </a:xfrm>
          <a:prstGeom prst="flowChartConnector">
            <a:avLst/>
          </a:prstGeom>
          <a:solidFill>
            <a:srgbClr val="156082"/>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lowchart: Connector 27">
            <a:extLst>
              <a:ext uri="{FF2B5EF4-FFF2-40B4-BE49-F238E27FC236}">
                <a16:creationId xmlns:a16="http://schemas.microsoft.com/office/drawing/2014/main" id="{8E2B5732-353C-CF43-C628-78AC91EED195}"/>
              </a:ext>
            </a:extLst>
          </p:cNvPr>
          <p:cNvSpPr/>
          <p:nvPr/>
        </p:nvSpPr>
        <p:spPr>
          <a:xfrm>
            <a:off x="1763999" y="1902832"/>
            <a:ext cx="72000" cy="72000"/>
          </a:xfrm>
          <a:prstGeom prst="flowChartConnector">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lowchart: Connector 29">
            <a:extLst>
              <a:ext uri="{FF2B5EF4-FFF2-40B4-BE49-F238E27FC236}">
                <a16:creationId xmlns:a16="http://schemas.microsoft.com/office/drawing/2014/main" id="{9DA663E1-7184-4C6D-A77B-2F43C9FF7D39}"/>
              </a:ext>
            </a:extLst>
          </p:cNvPr>
          <p:cNvSpPr/>
          <p:nvPr/>
        </p:nvSpPr>
        <p:spPr>
          <a:xfrm>
            <a:off x="3474000" y="2240455"/>
            <a:ext cx="72000" cy="72000"/>
          </a:xfrm>
          <a:prstGeom prst="flowChartConnector">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lowchart: Connector 31">
            <a:extLst>
              <a:ext uri="{FF2B5EF4-FFF2-40B4-BE49-F238E27FC236}">
                <a16:creationId xmlns:a16="http://schemas.microsoft.com/office/drawing/2014/main" id="{7FD8AF4B-3435-FD73-9478-802ACC60D967}"/>
              </a:ext>
            </a:extLst>
          </p:cNvPr>
          <p:cNvSpPr/>
          <p:nvPr/>
        </p:nvSpPr>
        <p:spPr>
          <a:xfrm>
            <a:off x="2653200" y="2576677"/>
            <a:ext cx="72000" cy="72000"/>
          </a:xfrm>
          <a:prstGeom prst="flowChartConnector">
            <a:avLst/>
          </a:prstGeom>
          <a:solidFill>
            <a:srgbClr val="156082"/>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Flowchart: Connector 33">
            <a:extLst>
              <a:ext uri="{FF2B5EF4-FFF2-40B4-BE49-F238E27FC236}">
                <a16:creationId xmlns:a16="http://schemas.microsoft.com/office/drawing/2014/main" id="{5FE185E2-9A70-3A2E-2B55-887B0FE0620B}"/>
              </a:ext>
            </a:extLst>
          </p:cNvPr>
          <p:cNvSpPr/>
          <p:nvPr/>
        </p:nvSpPr>
        <p:spPr>
          <a:xfrm>
            <a:off x="8521200" y="2240455"/>
            <a:ext cx="72000" cy="72000"/>
          </a:xfrm>
          <a:prstGeom prst="flowChartConnector">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lowchart: Connector 35">
            <a:extLst>
              <a:ext uri="{FF2B5EF4-FFF2-40B4-BE49-F238E27FC236}">
                <a16:creationId xmlns:a16="http://schemas.microsoft.com/office/drawing/2014/main" id="{81A66828-CC62-D106-269C-2873E6F39FEE}"/>
              </a:ext>
            </a:extLst>
          </p:cNvPr>
          <p:cNvSpPr/>
          <p:nvPr/>
        </p:nvSpPr>
        <p:spPr>
          <a:xfrm>
            <a:off x="9817200" y="2576677"/>
            <a:ext cx="72000" cy="72000"/>
          </a:xfrm>
          <a:prstGeom prst="flowChartConnector">
            <a:avLst/>
          </a:prstGeom>
          <a:solidFill>
            <a:srgbClr val="156082"/>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Flowchart: Connector 37">
            <a:extLst>
              <a:ext uri="{FF2B5EF4-FFF2-40B4-BE49-F238E27FC236}">
                <a16:creationId xmlns:a16="http://schemas.microsoft.com/office/drawing/2014/main" id="{63756630-E896-1488-1511-15A7B7E4A5C3}"/>
              </a:ext>
            </a:extLst>
          </p:cNvPr>
          <p:cNvSpPr/>
          <p:nvPr/>
        </p:nvSpPr>
        <p:spPr>
          <a:xfrm>
            <a:off x="11123999" y="1902832"/>
            <a:ext cx="72000" cy="72000"/>
          </a:xfrm>
          <a:prstGeom prst="flowChartConnector">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45829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302E4-F8A3-F9D7-C139-5A23E729F86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61755C-3482-8B85-9DFD-7C1746CC058F}"/>
              </a:ext>
            </a:extLst>
          </p:cNvPr>
          <p:cNvSpPr txBox="1"/>
          <p:nvPr/>
        </p:nvSpPr>
        <p:spPr>
          <a:xfrm>
            <a:off x="410400" y="410400"/>
            <a:ext cx="11372400" cy="830997"/>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B&amp;M can unlock £62m of annual EBITDA synergies by combining scale with Poundland's store network</a:t>
            </a:r>
          </a:p>
        </p:txBody>
      </p:sp>
      <p:sp>
        <p:nvSpPr>
          <p:cNvPr id="21" name="TextBox 20">
            <a:extLst>
              <a:ext uri="{FF2B5EF4-FFF2-40B4-BE49-F238E27FC236}">
                <a16:creationId xmlns:a16="http://schemas.microsoft.com/office/drawing/2014/main" id="{2FE0E1BF-27DA-E898-6761-CC11A5308840}"/>
              </a:ext>
            </a:extLst>
          </p:cNvPr>
          <p:cNvSpPr txBox="1"/>
          <p:nvPr/>
        </p:nvSpPr>
        <p:spPr>
          <a:xfrm>
            <a:off x="409200" y="5779698"/>
            <a:ext cx="11376000" cy="461665"/>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Key Takeaway:</a:t>
            </a:r>
            <a:endParaRPr lang="en-GB" sz="1100" dirty="0">
              <a:solidFill>
                <a:srgbClr val="142A43"/>
              </a:solidFill>
              <a:latin typeface="Arial Bold" panose="020B0704020202020204" pitchFamily="34" charset="0"/>
              <a:cs typeface="Arial Bold" panose="020B07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£61.5m FY30E EBITDA synergies exceed £50.5m cumulative integration costs, but value creation remains dependent on execution.</a:t>
            </a:r>
            <a:endParaRPr lang="en-GB" sz="950" dirty="0">
              <a:solidFill>
                <a:schemeClr val="bg2">
                  <a:lumMod val="25000"/>
                </a:schemeClr>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DACC4B11-8ED4-F71C-51A2-70E9D45CE3E4}"/>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02AB9F31-D933-7CB0-2070-2F37EAA40D02}"/>
              </a:ext>
            </a:extLst>
          </p:cNvPr>
          <p:cNvSpPr txBox="1"/>
          <p:nvPr/>
        </p:nvSpPr>
        <p:spPr>
          <a:xfrm>
            <a:off x="11421600" y="6349387"/>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5</a:t>
            </a:r>
          </a:p>
        </p:txBody>
      </p:sp>
      <p:sp>
        <p:nvSpPr>
          <p:cNvPr id="6" name="TextBox 5">
            <a:extLst>
              <a:ext uri="{FF2B5EF4-FFF2-40B4-BE49-F238E27FC236}">
                <a16:creationId xmlns:a16="http://schemas.microsoft.com/office/drawing/2014/main" id="{2F4D411F-515B-F4FA-7504-646509457490}"/>
              </a:ext>
            </a:extLst>
          </p:cNvPr>
          <p:cNvSpPr txBox="1"/>
          <p:nvPr/>
        </p:nvSpPr>
        <p:spPr>
          <a:xfrm>
            <a:off x="414000" y="3320132"/>
            <a:ext cx="5583600" cy="144655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Revenue Synergies</a:t>
            </a:r>
            <a:endParaRPr lang="en-GB" sz="1000" dirty="0">
              <a:solidFill>
                <a:srgbClr val="142A43"/>
              </a:solidFill>
              <a:latin typeface="Arial Bold" panose="020B0704020202020204" pitchFamily="34" charset="0"/>
              <a:cs typeface="Arial Bold" panose="020B0704020202020204" pitchFamily="34" charset="0"/>
            </a:endParaRPr>
          </a:p>
          <a:p>
            <a:r>
              <a:rPr lang="en-GB" sz="1000" b="1" dirty="0">
                <a:solidFill>
                  <a:srgbClr val="6E6E6E"/>
                </a:solidFill>
                <a:latin typeface="Arial" panose="020B0604020202020204" pitchFamily="34" charset="0"/>
                <a:cs typeface="Arial" panose="020B0604020202020204" pitchFamily="34" charset="0"/>
              </a:rPr>
              <a:t>£73.8m </a:t>
            </a:r>
            <a:r>
              <a:rPr lang="en-GB" sz="1000" dirty="0">
                <a:solidFill>
                  <a:srgbClr val="6E6E6E"/>
                </a:solidFill>
                <a:latin typeface="Arial" panose="020B0604020202020204" pitchFamily="34" charset="0"/>
                <a:cs typeface="Arial" panose="020B0604020202020204" pitchFamily="34" charset="0"/>
              </a:rPr>
              <a:t>gross revenue opportunity by FY30E</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Cross-selling / basket size - leverage the combined customer proposition</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Channel &amp; estate - improve productivity across the combined store network</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Customer-base optimisation - increase customer reach and cross-shopping</a:t>
            </a:r>
          </a:p>
          <a:p>
            <a:pPr lvl="0"/>
            <a:endParaRPr lang="en-GB" sz="1100" dirty="0">
              <a:solidFill>
                <a:schemeClr val="bg2">
                  <a:lumMod val="25000"/>
                </a:schemeClr>
              </a:solidFill>
              <a:latin typeface="Arial" panose="020B0604020202020204" pitchFamily="34" charset="0"/>
              <a:cs typeface="Arial" panose="020B06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£7.4m FY26E up to </a:t>
            </a:r>
            <a:r>
              <a:rPr lang="en-GB" sz="1100" b="1" dirty="0">
                <a:solidFill>
                  <a:schemeClr val="bg2">
                    <a:lumMod val="25000"/>
                  </a:schemeClr>
                </a:solidFill>
                <a:latin typeface="Arial" panose="020B0604020202020204" pitchFamily="34" charset="0"/>
                <a:cs typeface="Arial" panose="020B0604020202020204" pitchFamily="34" charset="0"/>
              </a:rPr>
              <a:t>£14.8m</a:t>
            </a:r>
            <a:r>
              <a:rPr lang="en-GB" sz="1100" dirty="0">
                <a:solidFill>
                  <a:schemeClr val="bg2">
                    <a:lumMod val="25000"/>
                  </a:schemeClr>
                </a:solidFill>
                <a:latin typeface="Arial" panose="020B0604020202020204" pitchFamily="34" charset="0"/>
                <a:cs typeface="Arial" panose="020B0604020202020204" pitchFamily="34" charset="0"/>
              </a:rPr>
              <a:t> FY30E EBITDA contribution</a:t>
            </a:r>
          </a:p>
        </p:txBody>
      </p:sp>
      <p:sp>
        <p:nvSpPr>
          <p:cNvPr id="8" name="TextBox 7">
            <a:extLst>
              <a:ext uri="{FF2B5EF4-FFF2-40B4-BE49-F238E27FC236}">
                <a16:creationId xmlns:a16="http://schemas.microsoft.com/office/drawing/2014/main" id="{9E53B118-0140-78A8-E0B2-653C7C0DA553}"/>
              </a:ext>
            </a:extLst>
          </p:cNvPr>
          <p:cNvSpPr txBox="1"/>
          <p:nvPr/>
        </p:nvSpPr>
        <p:spPr>
          <a:xfrm>
            <a:off x="405599" y="1447200"/>
            <a:ext cx="11372400" cy="16668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FY30 EBITDA Synergy Build-up</a:t>
            </a:r>
            <a:endParaRPr lang="en-GB" sz="1100" dirty="0">
              <a:solidFill>
                <a:schemeClr val="bg2">
                  <a:lumMod val="2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D3A39F4-A82B-1E5C-0E82-D5A120A1F9B8}"/>
              </a:ext>
            </a:extLst>
          </p:cNvPr>
          <p:cNvSpPr txBox="1"/>
          <p:nvPr/>
        </p:nvSpPr>
        <p:spPr>
          <a:xfrm>
            <a:off x="6201600" y="3320132"/>
            <a:ext cx="5583600" cy="144655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Cost Synergies</a:t>
            </a:r>
            <a:endParaRPr lang="en-GB" sz="1000" dirty="0">
              <a:solidFill>
                <a:srgbClr val="142A43"/>
              </a:solidFill>
              <a:latin typeface="Arial Bold" panose="020B0704020202020204" pitchFamily="34" charset="0"/>
              <a:cs typeface="Arial Bold" panose="020B0704020202020204" pitchFamily="34" charset="0"/>
            </a:endParaRPr>
          </a:p>
          <a:p>
            <a:r>
              <a:rPr lang="en-GB" sz="1000" b="1" dirty="0">
                <a:solidFill>
                  <a:srgbClr val="6E6E6E"/>
                </a:solidFill>
                <a:latin typeface="Arial" panose="020B0604020202020204" pitchFamily="34" charset="0"/>
                <a:cs typeface="Arial" panose="020B0604020202020204" pitchFamily="34" charset="0"/>
              </a:rPr>
              <a:t>£46.7m </a:t>
            </a:r>
            <a:r>
              <a:rPr lang="en-GB" sz="1000" dirty="0">
                <a:solidFill>
                  <a:srgbClr val="6E6E6E"/>
                </a:solidFill>
                <a:latin typeface="Arial" panose="020B0604020202020204" pitchFamily="34" charset="0"/>
                <a:cs typeface="Arial" panose="020B0604020202020204" pitchFamily="34" charset="0"/>
              </a:rPr>
              <a:t>FY30E gross cost savings</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Procurement - </a:t>
            </a:r>
            <a:r>
              <a:rPr lang="en-GB" sz="1100" b="1" dirty="0">
                <a:solidFill>
                  <a:schemeClr val="bg2">
                    <a:lumMod val="25000"/>
                  </a:schemeClr>
                </a:solidFill>
                <a:latin typeface="Arial" panose="020B0604020202020204" pitchFamily="34" charset="0"/>
                <a:cs typeface="Arial" panose="020B0604020202020204" pitchFamily="34" charset="0"/>
              </a:rPr>
              <a:t>£20.5m</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Distribution - £8.2m</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Head office - £11.5m</a:t>
            </a:r>
          </a:p>
          <a:p>
            <a:pPr lvl="0"/>
            <a:endParaRPr lang="en-GB" sz="1100" dirty="0">
              <a:solidFill>
                <a:schemeClr val="bg2">
                  <a:lumMod val="25000"/>
                </a:schemeClr>
              </a:solidFill>
              <a:latin typeface="Arial" panose="020B0604020202020204" pitchFamily="34" charset="0"/>
              <a:cs typeface="Arial" panose="020B06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£9.4m FY26E up to </a:t>
            </a:r>
            <a:r>
              <a:rPr lang="en-GB" sz="1100" b="1" dirty="0">
                <a:solidFill>
                  <a:schemeClr val="bg2">
                    <a:lumMod val="25000"/>
                  </a:schemeClr>
                </a:solidFill>
                <a:latin typeface="Arial" panose="020B0604020202020204" pitchFamily="34" charset="0"/>
                <a:cs typeface="Arial" panose="020B0604020202020204" pitchFamily="34" charset="0"/>
              </a:rPr>
              <a:t>£46.7m</a:t>
            </a:r>
            <a:r>
              <a:rPr lang="en-GB" sz="1100" dirty="0">
                <a:solidFill>
                  <a:schemeClr val="bg2">
                    <a:lumMod val="25000"/>
                  </a:schemeClr>
                </a:solidFill>
                <a:latin typeface="Arial" panose="020B0604020202020204" pitchFamily="34" charset="0"/>
                <a:cs typeface="Arial" panose="020B0604020202020204" pitchFamily="34" charset="0"/>
              </a:rPr>
              <a:t> FY30E cost synergies</a:t>
            </a:r>
          </a:p>
        </p:txBody>
      </p:sp>
      <p:graphicFrame>
        <p:nvGraphicFramePr>
          <p:cNvPr id="16" name="Table 15">
            <a:extLst>
              <a:ext uri="{FF2B5EF4-FFF2-40B4-BE49-F238E27FC236}">
                <a16:creationId xmlns:a16="http://schemas.microsoft.com/office/drawing/2014/main" id="{85E82C0E-4BC4-7650-80E2-C1E7B29B74A0}"/>
              </a:ext>
            </a:extLst>
          </p:cNvPr>
          <p:cNvGraphicFramePr>
            <a:graphicFrameLocks noGrp="1"/>
          </p:cNvGraphicFramePr>
          <p:nvPr>
            <p:extLst>
              <p:ext uri="{D42A27DB-BD31-4B8C-83A1-F6EECF244321}">
                <p14:modId xmlns:p14="http://schemas.microsoft.com/office/powerpoint/2010/main" val="2912595952"/>
              </p:ext>
            </p:extLst>
          </p:nvPr>
        </p:nvGraphicFramePr>
        <p:xfrm>
          <a:off x="409200" y="4971882"/>
          <a:ext cx="11368799" cy="599968"/>
        </p:xfrm>
        <a:graphic>
          <a:graphicData uri="http://schemas.openxmlformats.org/drawingml/2006/table">
            <a:tbl>
              <a:tblPr>
                <a:tableStyleId>{2D5ABB26-0587-4C30-8999-92F81FD0307C}</a:tableStyleId>
              </a:tblPr>
              <a:tblGrid>
                <a:gridCol w="2933747">
                  <a:extLst>
                    <a:ext uri="{9D8B030D-6E8A-4147-A177-3AD203B41FA5}">
                      <a16:colId xmlns:a16="http://schemas.microsoft.com/office/drawing/2014/main" val="2608285216"/>
                    </a:ext>
                  </a:extLst>
                </a:gridCol>
                <a:gridCol w="2108763">
                  <a:extLst>
                    <a:ext uri="{9D8B030D-6E8A-4147-A177-3AD203B41FA5}">
                      <a16:colId xmlns:a16="http://schemas.microsoft.com/office/drawing/2014/main" val="4279388324"/>
                    </a:ext>
                  </a:extLst>
                </a:gridCol>
                <a:gridCol w="2108763">
                  <a:extLst>
                    <a:ext uri="{9D8B030D-6E8A-4147-A177-3AD203B41FA5}">
                      <a16:colId xmlns:a16="http://schemas.microsoft.com/office/drawing/2014/main" val="1642815393"/>
                    </a:ext>
                  </a:extLst>
                </a:gridCol>
                <a:gridCol w="2108763">
                  <a:extLst>
                    <a:ext uri="{9D8B030D-6E8A-4147-A177-3AD203B41FA5}">
                      <a16:colId xmlns:a16="http://schemas.microsoft.com/office/drawing/2014/main" val="4137860802"/>
                    </a:ext>
                  </a:extLst>
                </a:gridCol>
                <a:gridCol w="2108763">
                  <a:extLst>
                    <a:ext uri="{9D8B030D-6E8A-4147-A177-3AD203B41FA5}">
                      <a16:colId xmlns:a16="http://schemas.microsoft.com/office/drawing/2014/main" val="3355915769"/>
                    </a:ext>
                  </a:extLst>
                </a:gridCol>
              </a:tblGrid>
              <a:tr h="316698">
                <a:tc>
                  <a:txBody>
                    <a:bodyPr/>
                    <a:lstStyle/>
                    <a:p>
                      <a:pPr algn="l">
                        <a:buNone/>
                      </a:pPr>
                      <a:r>
                        <a:rPr lang="en-GB" sz="1300" dirty="0">
                          <a:solidFill>
                            <a:srgbClr val="142A43"/>
                          </a:solidFill>
                          <a:latin typeface="Arial Bold" panose="020B0704020202020204" pitchFamily="34" charset="0"/>
                          <a:cs typeface="Arial Bold" panose="020B0704020202020204" pitchFamily="34" charset="0"/>
                        </a:rPr>
                        <a:t>Integration Roadmap</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300" dirty="0">
                          <a:solidFill>
                            <a:srgbClr val="142A43"/>
                          </a:solidFill>
                          <a:latin typeface="Arial Bold" panose="020B0704020202020204" pitchFamily="34" charset="0"/>
                          <a:cs typeface="Arial Bold" panose="020B0704020202020204" pitchFamily="34" charset="0"/>
                        </a:rPr>
                        <a:t>FY26E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300" dirty="0">
                          <a:solidFill>
                            <a:srgbClr val="142A43"/>
                          </a:solidFill>
                          <a:latin typeface="Arial Bold" panose="020B0704020202020204" pitchFamily="34" charset="0"/>
                          <a:cs typeface="Arial Bold" panose="020B0704020202020204" pitchFamily="34" charset="0"/>
                        </a:rPr>
                        <a:t>FY27E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300" dirty="0">
                          <a:solidFill>
                            <a:srgbClr val="142A43"/>
                          </a:solidFill>
                          <a:latin typeface="Arial Bold" panose="020B0704020202020204" pitchFamily="34" charset="0"/>
                          <a:cs typeface="Arial Bold" panose="020B0704020202020204" pitchFamily="34" charset="0"/>
                        </a:rPr>
                        <a:t>FY28E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300" dirty="0">
                          <a:solidFill>
                            <a:srgbClr val="142A43"/>
                          </a:solidFill>
                          <a:latin typeface="Arial Bold" panose="020B0704020202020204" pitchFamily="34" charset="0"/>
                          <a:cs typeface="Arial Bold" panose="020B0704020202020204" pitchFamily="34" charset="0"/>
                        </a:rPr>
                        <a:t>FY29E-30E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2625185720"/>
                  </a:ext>
                </a:extLst>
              </a:tr>
              <a:tr h="283270">
                <a:tc>
                  <a:txBody>
                    <a:bodyPr/>
                    <a:lstStyle/>
                    <a:p>
                      <a:pPr algn="l">
                        <a:buNone/>
                      </a:pPr>
                      <a:r>
                        <a:rPr lang="en-GB" sz="1100" b="0" dirty="0">
                          <a:latin typeface="Arial" panose="020B0604020202020204" pitchFamily="34" charset="0"/>
                          <a:cs typeface="Arial" panose="020B0604020202020204" pitchFamily="34" charset="0"/>
                        </a:rPr>
                        <a:t>Integration Costs</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£23m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£16.5m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£11m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 - m </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632915791"/>
                  </a:ext>
                </a:extLst>
              </a:tr>
            </a:tbl>
          </a:graphicData>
        </a:graphic>
      </p:graphicFrame>
      <p:sp>
        <p:nvSpPr>
          <p:cNvPr id="18" name="TextBox 17">
            <a:extLst>
              <a:ext uri="{FF2B5EF4-FFF2-40B4-BE49-F238E27FC236}">
                <a16:creationId xmlns:a16="http://schemas.microsoft.com/office/drawing/2014/main" id="{7EB089C9-5230-3F0C-8A5C-3A5022CF81AB}"/>
              </a:ext>
            </a:extLst>
          </p:cNvPr>
          <p:cNvSpPr txBox="1"/>
          <p:nvPr/>
        </p:nvSpPr>
        <p:spPr>
          <a:xfrm>
            <a:off x="8988880" y="3549831"/>
            <a:ext cx="2789120" cy="430887"/>
          </a:xfrm>
          <a:prstGeom prst="rect">
            <a:avLst/>
          </a:prstGeom>
          <a:solidFill>
            <a:srgbClr val="F2F4F6"/>
          </a:solidFill>
        </p:spPr>
        <p:txBody>
          <a:bodyPr wrap="square" rtlCol="0">
            <a:spAutoFit/>
          </a:bodyPr>
          <a:lstStyle/>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Technology - £3.3m</a:t>
            </a:r>
          </a:p>
          <a:p>
            <a:pPr marL="171450" lvl="0" indent="-171450">
              <a:buFont typeface="Arial" panose="020B0604020202020204" pitchFamily="34" charset="0"/>
              <a:buChar char="•"/>
            </a:pPr>
            <a:r>
              <a:rPr lang="en-GB" sz="1100" dirty="0">
                <a:solidFill>
                  <a:schemeClr val="bg2">
                    <a:lumMod val="25000"/>
                  </a:schemeClr>
                </a:solidFill>
                <a:latin typeface="Arial" panose="020B0604020202020204" pitchFamily="34" charset="0"/>
                <a:cs typeface="Arial" panose="020B0604020202020204" pitchFamily="34" charset="0"/>
              </a:rPr>
              <a:t>Marketing - £3.3m</a:t>
            </a:r>
          </a:p>
        </p:txBody>
      </p:sp>
      <mc:AlternateContent xmlns:mc="http://schemas.openxmlformats.org/markup-compatibility/2006">
        <mc:Choice xmlns:cx1="http://schemas.microsoft.com/office/drawing/2015/9/8/chartex" Requires="cx1">
          <p:graphicFrame>
            <p:nvGraphicFramePr>
              <p:cNvPr id="20" name="Chart 19">
                <a:extLst>
                  <a:ext uri="{FF2B5EF4-FFF2-40B4-BE49-F238E27FC236}">
                    <a16:creationId xmlns:a16="http://schemas.microsoft.com/office/drawing/2014/main" id="{9F1F6D66-2D37-E4E5-9447-C288FE60603C}"/>
                  </a:ext>
                </a:extLst>
              </p:cNvPr>
              <p:cNvGraphicFramePr/>
              <p:nvPr>
                <p:extLst>
                  <p:ext uri="{D42A27DB-BD31-4B8C-83A1-F6EECF244321}">
                    <p14:modId xmlns:p14="http://schemas.microsoft.com/office/powerpoint/2010/main" val="178931965"/>
                  </p:ext>
                </p:extLst>
              </p:nvPr>
            </p:nvGraphicFramePr>
            <p:xfrm>
              <a:off x="547142" y="1446596"/>
              <a:ext cx="11062740" cy="1564705"/>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20" name="Chart 19">
                <a:extLst>
                  <a:ext uri="{FF2B5EF4-FFF2-40B4-BE49-F238E27FC236}">
                    <a16:creationId xmlns:a16="http://schemas.microsoft.com/office/drawing/2014/main" id="{9F1F6D66-2D37-E4E5-9447-C288FE60603C}"/>
                  </a:ext>
                </a:extLst>
              </p:cNvPr>
              <p:cNvPicPr>
                <a:picLocks noGrp="1" noRot="1" noChangeAspect="1" noMove="1" noResize="1" noEditPoints="1" noAdjustHandles="1" noChangeArrowheads="1" noChangeShapeType="1"/>
              </p:cNvPicPr>
              <p:nvPr/>
            </p:nvPicPr>
            <p:blipFill>
              <a:blip r:embed="rId3"/>
              <a:stretch>
                <a:fillRect/>
              </a:stretch>
            </p:blipFill>
            <p:spPr>
              <a:xfrm>
                <a:off x="547142" y="1446596"/>
                <a:ext cx="11062740" cy="1564705"/>
              </a:xfrm>
              <a:prstGeom prst="rect">
                <a:avLst/>
              </a:prstGeom>
            </p:spPr>
          </p:pic>
        </mc:Fallback>
      </mc:AlternateContent>
    </p:spTree>
    <p:extLst>
      <p:ext uri="{BB962C8B-B14F-4D97-AF65-F5344CB8AC3E}">
        <p14:creationId xmlns:p14="http://schemas.microsoft.com/office/powerpoint/2010/main" val="1789299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BB5DF-D376-FD54-CF42-9D6E797637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54BF4E-F1B5-8963-C8B9-5CF30436D4A6}"/>
              </a:ext>
            </a:extLst>
          </p:cNvPr>
          <p:cNvSpPr txBox="1"/>
          <p:nvPr/>
        </p:nvSpPr>
        <p:spPr>
          <a:xfrm>
            <a:off x="410400" y="410400"/>
            <a:ext cx="11372400" cy="830997"/>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The acquisition is initially dilutive but becomes strongly accretive as synergies are realised</a:t>
            </a:r>
          </a:p>
        </p:txBody>
      </p:sp>
      <p:sp>
        <p:nvSpPr>
          <p:cNvPr id="31" name="TextBox 30">
            <a:extLst>
              <a:ext uri="{FF2B5EF4-FFF2-40B4-BE49-F238E27FC236}">
                <a16:creationId xmlns:a16="http://schemas.microsoft.com/office/drawing/2014/main" id="{6702A7BA-6BDE-A87C-D135-6ACEEECEE7FB}"/>
              </a:ext>
            </a:extLst>
          </p:cNvPr>
          <p:cNvSpPr txBox="1"/>
          <p:nvPr/>
        </p:nvSpPr>
        <p:spPr>
          <a:xfrm>
            <a:off x="409200" y="4748345"/>
            <a:ext cx="5583600" cy="1477328"/>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Incremental Free Cash Flow</a:t>
            </a:r>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£167.7m cumulative incremental FCF</a:t>
            </a:r>
          </a:p>
        </p:txBody>
      </p:sp>
      <p:sp>
        <p:nvSpPr>
          <p:cNvPr id="22" name="TextBox 21">
            <a:extLst>
              <a:ext uri="{FF2B5EF4-FFF2-40B4-BE49-F238E27FC236}">
                <a16:creationId xmlns:a16="http://schemas.microsoft.com/office/drawing/2014/main" id="{340D16AB-0097-ACE4-040B-53890467F273}"/>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7435BAD8-86BE-D332-1236-C7BF79D0A138}"/>
              </a:ext>
            </a:extLst>
          </p:cNvPr>
          <p:cNvSpPr txBox="1"/>
          <p:nvPr/>
        </p:nvSpPr>
        <p:spPr>
          <a:xfrm>
            <a:off x="11417999" y="5995142"/>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5</a:t>
            </a:r>
          </a:p>
        </p:txBody>
      </p:sp>
      <p:sp>
        <p:nvSpPr>
          <p:cNvPr id="7" name="TextBox 6">
            <a:extLst>
              <a:ext uri="{FF2B5EF4-FFF2-40B4-BE49-F238E27FC236}">
                <a16:creationId xmlns:a16="http://schemas.microsoft.com/office/drawing/2014/main" id="{E4476219-9610-327E-41C0-3D281AE3C132}"/>
              </a:ext>
            </a:extLst>
          </p:cNvPr>
          <p:cNvSpPr txBox="1"/>
          <p:nvPr/>
        </p:nvSpPr>
        <p:spPr>
          <a:xfrm>
            <a:off x="6190802" y="4748345"/>
            <a:ext cx="5583600" cy="1477328"/>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Leverage</a:t>
            </a:r>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r>
              <a:rPr lang="en-GB" sz="1100" dirty="0">
                <a:solidFill>
                  <a:schemeClr val="bg2">
                    <a:lumMod val="25000"/>
                  </a:schemeClr>
                </a:solidFill>
                <a:latin typeface="Arial" panose="020B0604020202020204" pitchFamily="34" charset="0"/>
                <a:cs typeface="Arial" panose="020B0604020202020204" pitchFamily="34" charset="0"/>
              </a:rPr>
              <a:t>Leverage remains within a manageable range and converges toward standalone levels as earnings grow.</a:t>
            </a:r>
          </a:p>
        </p:txBody>
      </p:sp>
      <p:graphicFrame>
        <p:nvGraphicFramePr>
          <p:cNvPr id="16" name="Table 15">
            <a:extLst>
              <a:ext uri="{FF2B5EF4-FFF2-40B4-BE49-F238E27FC236}">
                <a16:creationId xmlns:a16="http://schemas.microsoft.com/office/drawing/2014/main" id="{6A7E93FC-FB25-1436-770C-539D449A5950}"/>
              </a:ext>
            </a:extLst>
          </p:cNvPr>
          <p:cNvGraphicFramePr>
            <a:graphicFrameLocks noGrp="1"/>
          </p:cNvGraphicFramePr>
          <p:nvPr>
            <p:extLst>
              <p:ext uri="{D42A27DB-BD31-4B8C-83A1-F6EECF244321}">
                <p14:modId xmlns:p14="http://schemas.microsoft.com/office/powerpoint/2010/main" val="2870333704"/>
              </p:ext>
            </p:extLst>
          </p:nvPr>
        </p:nvGraphicFramePr>
        <p:xfrm>
          <a:off x="405603" y="5052514"/>
          <a:ext cx="5583599" cy="516584"/>
        </p:xfrm>
        <a:graphic>
          <a:graphicData uri="http://schemas.openxmlformats.org/drawingml/2006/table">
            <a:tbl>
              <a:tblPr>
                <a:tableStyleId>{2D5ABB26-0587-4C30-8999-92F81FD0307C}</a:tableStyleId>
              </a:tblPr>
              <a:tblGrid>
                <a:gridCol w="1625041">
                  <a:extLst>
                    <a:ext uri="{9D8B030D-6E8A-4147-A177-3AD203B41FA5}">
                      <a16:colId xmlns:a16="http://schemas.microsoft.com/office/drawing/2014/main" val="2608285216"/>
                    </a:ext>
                  </a:extLst>
                </a:gridCol>
                <a:gridCol w="836390">
                  <a:extLst>
                    <a:ext uri="{9D8B030D-6E8A-4147-A177-3AD203B41FA5}">
                      <a16:colId xmlns:a16="http://schemas.microsoft.com/office/drawing/2014/main" val="4279388324"/>
                    </a:ext>
                  </a:extLst>
                </a:gridCol>
                <a:gridCol w="780542">
                  <a:extLst>
                    <a:ext uri="{9D8B030D-6E8A-4147-A177-3AD203B41FA5}">
                      <a16:colId xmlns:a16="http://schemas.microsoft.com/office/drawing/2014/main" val="1642815393"/>
                    </a:ext>
                  </a:extLst>
                </a:gridCol>
                <a:gridCol w="780542">
                  <a:extLst>
                    <a:ext uri="{9D8B030D-6E8A-4147-A177-3AD203B41FA5}">
                      <a16:colId xmlns:a16="http://schemas.microsoft.com/office/drawing/2014/main" val="4137860802"/>
                    </a:ext>
                  </a:extLst>
                </a:gridCol>
                <a:gridCol w="780542">
                  <a:extLst>
                    <a:ext uri="{9D8B030D-6E8A-4147-A177-3AD203B41FA5}">
                      <a16:colId xmlns:a16="http://schemas.microsoft.com/office/drawing/2014/main" val="3355915769"/>
                    </a:ext>
                  </a:extLst>
                </a:gridCol>
                <a:gridCol w="780542">
                  <a:extLst>
                    <a:ext uri="{9D8B030D-6E8A-4147-A177-3AD203B41FA5}">
                      <a16:colId xmlns:a16="http://schemas.microsoft.com/office/drawing/2014/main" val="2103203148"/>
                    </a:ext>
                  </a:extLst>
                </a:gridCol>
              </a:tblGrid>
              <a:tr h="0">
                <a:tc>
                  <a:txBody>
                    <a:bodyPr/>
                    <a:lstStyle/>
                    <a:p>
                      <a:pPr algn="l">
                        <a:buNone/>
                      </a:pPr>
                      <a:endParaRPr lang="en-GB" sz="1100" dirty="0">
                        <a:solidFill>
                          <a:srgbClr val="142A43"/>
                        </a:solidFill>
                        <a:latin typeface="Arial Bold" panose="020B0704020202020204" pitchFamily="34" charset="0"/>
                        <a:cs typeface="Arial Bold" panose="020B0704020202020204" pitchFamily="34" charset="0"/>
                      </a:endParaRP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FY26E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FY27E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FY28E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FY29E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FY30E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2625185720"/>
                  </a:ext>
                </a:extLst>
              </a:tr>
              <a:tr h="0">
                <a:tc>
                  <a:txBody>
                    <a:bodyPr/>
                    <a:lstStyle/>
                    <a:p>
                      <a:pPr algn="l">
                        <a:buNone/>
                      </a:pPr>
                      <a:r>
                        <a:rPr lang="en-GB" sz="1100" b="0" dirty="0">
                          <a:latin typeface="Arial" panose="020B0604020202020204" pitchFamily="34" charset="0"/>
                          <a:cs typeface="Arial" panose="020B0604020202020204" pitchFamily="34" charset="0"/>
                        </a:rPr>
                        <a:t>Incremental FCF</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(£16.8m)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£6.1m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£29.8m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£70.7m </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£78</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632915791"/>
                  </a:ext>
                </a:extLst>
              </a:tr>
            </a:tbl>
          </a:graphicData>
        </a:graphic>
      </p:graphicFrame>
      <p:sp>
        <p:nvSpPr>
          <p:cNvPr id="19" name="TextBox 18">
            <a:extLst>
              <a:ext uri="{FF2B5EF4-FFF2-40B4-BE49-F238E27FC236}">
                <a16:creationId xmlns:a16="http://schemas.microsoft.com/office/drawing/2014/main" id="{45F94E57-78DD-11BF-3BFC-68088A400251}"/>
              </a:ext>
            </a:extLst>
          </p:cNvPr>
          <p:cNvSpPr txBox="1"/>
          <p:nvPr/>
        </p:nvSpPr>
        <p:spPr>
          <a:xfrm>
            <a:off x="414000" y="1446597"/>
            <a:ext cx="3654000" cy="615553"/>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31.0%</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FY30E EPS accretion</a:t>
            </a:r>
          </a:p>
          <a:p>
            <a:pPr lvl="0"/>
            <a:r>
              <a:rPr lang="en-GB" sz="1100" dirty="0">
                <a:solidFill>
                  <a:schemeClr val="bg2">
                    <a:lumMod val="25000"/>
                  </a:schemeClr>
                </a:solidFill>
                <a:latin typeface="Arial" panose="020B0604020202020204" pitchFamily="34" charset="0"/>
                <a:cs typeface="Arial" panose="020B0604020202020204" pitchFamily="34" charset="0"/>
              </a:rPr>
              <a:t>FY28 first accretive year</a:t>
            </a:r>
          </a:p>
        </p:txBody>
      </p:sp>
      <p:sp>
        <p:nvSpPr>
          <p:cNvPr id="25" name="TextBox 24">
            <a:extLst>
              <a:ext uri="{FF2B5EF4-FFF2-40B4-BE49-F238E27FC236}">
                <a16:creationId xmlns:a16="http://schemas.microsoft.com/office/drawing/2014/main" id="{981118CE-152F-56F4-3A55-29E3D9B80FCD}"/>
              </a:ext>
            </a:extLst>
          </p:cNvPr>
          <p:cNvSpPr txBox="1"/>
          <p:nvPr/>
        </p:nvSpPr>
        <p:spPr>
          <a:xfrm>
            <a:off x="4269000" y="1446597"/>
            <a:ext cx="3654000" cy="615553"/>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£78.0m</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FY30E Incremental FCF</a:t>
            </a:r>
          </a:p>
          <a:p>
            <a:pPr lvl="0"/>
            <a:r>
              <a:rPr lang="en-GB" sz="1100" dirty="0">
                <a:solidFill>
                  <a:schemeClr val="bg2">
                    <a:lumMod val="25000"/>
                  </a:schemeClr>
                </a:solidFill>
                <a:latin typeface="Arial" panose="020B0604020202020204" pitchFamily="34" charset="0"/>
                <a:cs typeface="Arial" panose="020B0604020202020204" pitchFamily="34" charset="0"/>
              </a:rPr>
              <a:t>£167.7m cumulative through FY30E</a:t>
            </a:r>
          </a:p>
        </p:txBody>
      </p:sp>
      <p:sp>
        <p:nvSpPr>
          <p:cNvPr id="27" name="TextBox 26">
            <a:extLst>
              <a:ext uri="{FF2B5EF4-FFF2-40B4-BE49-F238E27FC236}">
                <a16:creationId xmlns:a16="http://schemas.microsoft.com/office/drawing/2014/main" id="{1004966F-0AF5-EF3F-6773-BF3C68C6B57A}"/>
              </a:ext>
            </a:extLst>
          </p:cNvPr>
          <p:cNvSpPr txBox="1"/>
          <p:nvPr/>
        </p:nvSpPr>
        <p:spPr>
          <a:xfrm>
            <a:off x="8123999" y="1446597"/>
            <a:ext cx="3654000" cy="615553"/>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1.33x</a:t>
            </a:r>
            <a:endParaRPr lang="en-GB" sz="1000" dirty="0">
              <a:solidFill>
                <a:srgbClr val="142A43"/>
              </a:solidFill>
              <a:latin typeface="Arial Bold" panose="020B0704020202020204" pitchFamily="34" charset="0"/>
              <a:cs typeface="Arial Bold" panose="020B0704020202020204" pitchFamily="34" charset="0"/>
            </a:endParaRPr>
          </a:p>
          <a:p>
            <a:r>
              <a:rPr lang="en-GB" sz="1000" dirty="0">
                <a:solidFill>
                  <a:srgbClr val="6E6E6E"/>
                </a:solidFill>
                <a:latin typeface="Arial" panose="020B0604020202020204" pitchFamily="34" charset="0"/>
                <a:cs typeface="Arial" panose="020B0604020202020204" pitchFamily="34" charset="0"/>
              </a:rPr>
              <a:t>FY30E PF ND / EBITDA</a:t>
            </a:r>
          </a:p>
          <a:p>
            <a:pPr lvl="0"/>
            <a:r>
              <a:rPr lang="en-GB" sz="1100" dirty="0">
                <a:solidFill>
                  <a:schemeClr val="bg2">
                    <a:lumMod val="25000"/>
                  </a:schemeClr>
                </a:solidFill>
                <a:latin typeface="Arial" panose="020B0604020202020204" pitchFamily="34" charset="0"/>
                <a:cs typeface="Arial" panose="020B0604020202020204" pitchFamily="34" charset="0"/>
              </a:rPr>
              <a:t>1.58x immediately post-transaction</a:t>
            </a:r>
          </a:p>
        </p:txBody>
      </p:sp>
      <p:graphicFrame>
        <p:nvGraphicFramePr>
          <p:cNvPr id="29" name="Table 28">
            <a:extLst>
              <a:ext uri="{FF2B5EF4-FFF2-40B4-BE49-F238E27FC236}">
                <a16:creationId xmlns:a16="http://schemas.microsoft.com/office/drawing/2014/main" id="{002BB12A-99BB-1C84-C024-340EFFB6581C}"/>
              </a:ext>
            </a:extLst>
          </p:cNvPr>
          <p:cNvGraphicFramePr>
            <a:graphicFrameLocks noGrp="1"/>
          </p:cNvGraphicFramePr>
          <p:nvPr>
            <p:extLst>
              <p:ext uri="{D42A27DB-BD31-4B8C-83A1-F6EECF244321}">
                <p14:modId xmlns:p14="http://schemas.microsoft.com/office/powerpoint/2010/main" val="82771203"/>
              </p:ext>
            </p:extLst>
          </p:nvPr>
        </p:nvGraphicFramePr>
        <p:xfrm>
          <a:off x="6190802" y="5057158"/>
          <a:ext cx="5583599" cy="774876"/>
        </p:xfrm>
        <a:graphic>
          <a:graphicData uri="http://schemas.openxmlformats.org/drawingml/2006/table">
            <a:tbl>
              <a:tblPr>
                <a:tableStyleId>{2D5ABB26-0587-4C30-8999-92F81FD0307C}</a:tableStyleId>
              </a:tblPr>
              <a:tblGrid>
                <a:gridCol w="2798783">
                  <a:extLst>
                    <a:ext uri="{9D8B030D-6E8A-4147-A177-3AD203B41FA5}">
                      <a16:colId xmlns:a16="http://schemas.microsoft.com/office/drawing/2014/main" val="2608285216"/>
                    </a:ext>
                  </a:extLst>
                </a:gridCol>
                <a:gridCol w="1440501">
                  <a:extLst>
                    <a:ext uri="{9D8B030D-6E8A-4147-A177-3AD203B41FA5}">
                      <a16:colId xmlns:a16="http://schemas.microsoft.com/office/drawing/2014/main" val="4279388324"/>
                    </a:ext>
                  </a:extLst>
                </a:gridCol>
                <a:gridCol w="1344315">
                  <a:extLst>
                    <a:ext uri="{9D8B030D-6E8A-4147-A177-3AD203B41FA5}">
                      <a16:colId xmlns:a16="http://schemas.microsoft.com/office/drawing/2014/main" val="1642815393"/>
                    </a:ext>
                  </a:extLst>
                </a:gridCol>
              </a:tblGrid>
              <a:tr h="0">
                <a:tc>
                  <a:txBody>
                    <a:bodyPr/>
                    <a:lstStyle/>
                    <a:p>
                      <a:pPr algn="l">
                        <a:buNone/>
                      </a:pPr>
                      <a:r>
                        <a:rPr lang="en-GB" sz="1100" dirty="0">
                          <a:solidFill>
                            <a:srgbClr val="142A43"/>
                          </a:solidFill>
                          <a:latin typeface="Arial Bold" panose="020B0704020202020204" pitchFamily="34" charset="0"/>
                          <a:cs typeface="Arial Bold" panose="020B0704020202020204" pitchFamily="34" charset="0"/>
                        </a:rPr>
                        <a:t>Net Debt / EBITDA</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dirty="0">
                          <a:solidFill>
                            <a:srgbClr val="142A43"/>
                          </a:solidFill>
                          <a:latin typeface="Arial Bold" panose="020B0704020202020204" pitchFamily="34" charset="0"/>
                          <a:cs typeface="Arial Bold" panose="020B0704020202020204" pitchFamily="34" charset="0"/>
                        </a:rPr>
                        <a:t>FY26E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dirty="0">
                          <a:solidFill>
                            <a:srgbClr val="142A43"/>
                          </a:solidFill>
                          <a:latin typeface="Arial Bold" panose="020B0704020202020204" pitchFamily="34" charset="0"/>
                          <a:cs typeface="Arial Bold" panose="020B0704020202020204" pitchFamily="34" charset="0"/>
                        </a:rPr>
                        <a:t>FY30E</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2625185720"/>
                  </a:ext>
                </a:extLst>
              </a:tr>
              <a:tr h="0">
                <a:tc>
                  <a:txBody>
                    <a:bodyPr/>
                    <a:lstStyle/>
                    <a:p>
                      <a:pPr algn="l">
                        <a:buNone/>
                      </a:pPr>
                      <a:r>
                        <a:rPr lang="en-GB" sz="1100" b="0" dirty="0">
                          <a:latin typeface="Arial" panose="020B0604020202020204" pitchFamily="34" charset="0"/>
                          <a:cs typeface="Arial" panose="020B0604020202020204" pitchFamily="34" charset="0"/>
                        </a:rPr>
                        <a:t>B&amp;M standalone</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1.20x</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1.43x</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632915791"/>
                  </a:ext>
                </a:extLst>
              </a:tr>
              <a:tr h="0">
                <a:tc>
                  <a:txBody>
                    <a:bodyPr/>
                    <a:lstStyle/>
                    <a:p>
                      <a:pPr algn="l">
                        <a:buNone/>
                      </a:pPr>
                      <a:r>
                        <a:rPr lang="en-GB" sz="1100" b="0" dirty="0">
                          <a:latin typeface="Arial" panose="020B0604020202020204" pitchFamily="34" charset="0"/>
                          <a:cs typeface="Arial" panose="020B0604020202020204" pitchFamily="34" charset="0"/>
                        </a:rPr>
                        <a:t>Pro forma</a:t>
                      </a:r>
                    </a:p>
                  </a:txBody>
                  <a:tcPr marL="90653" marR="90653" marT="45326" marB="45326"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1.31x</a:t>
                      </a:r>
                    </a:p>
                  </a:txBody>
                  <a:tcPr marL="90653" marR="90653" marT="45326" marB="45326"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1.33x</a:t>
                      </a:r>
                    </a:p>
                  </a:txBody>
                  <a:tcPr marL="90653" marR="90653" marT="45326" marB="45326"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588770430"/>
                  </a:ext>
                </a:extLst>
              </a:tr>
            </a:tbl>
          </a:graphicData>
        </a:graphic>
      </p:graphicFrame>
      <p:graphicFrame>
        <p:nvGraphicFramePr>
          <p:cNvPr id="37" name="Chart 36">
            <a:extLst>
              <a:ext uri="{FF2B5EF4-FFF2-40B4-BE49-F238E27FC236}">
                <a16:creationId xmlns:a16="http://schemas.microsoft.com/office/drawing/2014/main" id="{1440DCEB-9270-CEFB-5FF7-34E15E8BAB1E}"/>
              </a:ext>
            </a:extLst>
          </p:cNvPr>
          <p:cNvGraphicFramePr/>
          <p:nvPr>
            <p:extLst>
              <p:ext uri="{D42A27DB-BD31-4B8C-83A1-F6EECF244321}">
                <p14:modId xmlns:p14="http://schemas.microsoft.com/office/powerpoint/2010/main" val="495498553"/>
              </p:ext>
            </p:extLst>
          </p:nvPr>
        </p:nvGraphicFramePr>
        <p:xfrm>
          <a:off x="414000" y="2267350"/>
          <a:ext cx="11368800" cy="2317887"/>
        </p:xfrm>
        <a:graphic>
          <a:graphicData uri="http://schemas.openxmlformats.org/drawingml/2006/chart">
            <c:chart xmlns:c="http://schemas.openxmlformats.org/drawingml/2006/chart" xmlns:r="http://schemas.openxmlformats.org/officeDocument/2006/relationships" r:id="rId2"/>
          </a:graphicData>
        </a:graphic>
      </p:graphicFrame>
      <p:sp>
        <p:nvSpPr>
          <p:cNvPr id="39" name="TextBox 38">
            <a:extLst>
              <a:ext uri="{FF2B5EF4-FFF2-40B4-BE49-F238E27FC236}">
                <a16:creationId xmlns:a16="http://schemas.microsoft.com/office/drawing/2014/main" id="{9FD843DB-5F94-BDA8-6CCF-439E747CE1E4}"/>
              </a:ext>
            </a:extLst>
          </p:cNvPr>
          <p:cNvSpPr txBox="1"/>
          <p:nvPr/>
        </p:nvSpPr>
        <p:spPr>
          <a:xfrm>
            <a:off x="11421600" y="6349387"/>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6</a:t>
            </a:r>
          </a:p>
        </p:txBody>
      </p:sp>
    </p:spTree>
    <p:extLst>
      <p:ext uri="{BB962C8B-B14F-4D97-AF65-F5344CB8AC3E}">
        <p14:creationId xmlns:p14="http://schemas.microsoft.com/office/powerpoint/2010/main" val="3235620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B3DDC-D082-4D11-8973-B7A3F58DCF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A4700DC-C955-630E-F9F4-5A6B0231E4F3}"/>
              </a:ext>
            </a:extLst>
          </p:cNvPr>
          <p:cNvSpPr txBox="1"/>
          <p:nvPr/>
        </p:nvSpPr>
        <p:spPr>
          <a:xfrm>
            <a:off x="410400" y="410400"/>
            <a:ext cx="11372400" cy="830997"/>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Value creation is sensitive to purchase price and synergy delivery, limiting the margin for execution error</a:t>
            </a:r>
          </a:p>
        </p:txBody>
      </p:sp>
      <p:sp>
        <p:nvSpPr>
          <p:cNvPr id="22" name="TextBox 21">
            <a:extLst>
              <a:ext uri="{FF2B5EF4-FFF2-40B4-BE49-F238E27FC236}">
                <a16:creationId xmlns:a16="http://schemas.microsoft.com/office/drawing/2014/main" id="{AD50F3B7-319C-7566-DEEC-1D393DD4D444}"/>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91E59430-1B96-112F-DCE1-7F81F4801802}"/>
              </a:ext>
            </a:extLst>
          </p:cNvPr>
          <p:cNvSpPr txBox="1"/>
          <p:nvPr/>
        </p:nvSpPr>
        <p:spPr>
          <a:xfrm>
            <a:off x="11421600" y="6349387"/>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7</a:t>
            </a:r>
          </a:p>
        </p:txBody>
      </p:sp>
      <p:sp>
        <p:nvSpPr>
          <p:cNvPr id="6" name="TextBox 5">
            <a:extLst>
              <a:ext uri="{FF2B5EF4-FFF2-40B4-BE49-F238E27FC236}">
                <a16:creationId xmlns:a16="http://schemas.microsoft.com/office/drawing/2014/main" id="{AF10AB53-870C-7511-E458-41AC48EC1E45}"/>
              </a:ext>
            </a:extLst>
          </p:cNvPr>
          <p:cNvSpPr txBox="1"/>
          <p:nvPr/>
        </p:nvSpPr>
        <p:spPr>
          <a:xfrm>
            <a:off x="410401" y="1447200"/>
            <a:ext cx="5482800" cy="3062377"/>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Purchase Price Sensitivity</a:t>
            </a: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endParaRPr lang="en-GB" sz="1000" dirty="0">
              <a:solidFill>
                <a:srgbClr val="142A43"/>
              </a:solidFill>
              <a:latin typeface="Arial" panose="020B0604020202020204" pitchFamily="34" charset="0"/>
              <a:cs typeface="Arial" panose="020B0604020202020204" pitchFamily="34" charset="0"/>
            </a:endParaRPr>
          </a:p>
          <a:p>
            <a:r>
              <a:rPr lang="en-GB" sz="1000" dirty="0">
                <a:solidFill>
                  <a:srgbClr val="142A43"/>
                </a:solidFill>
                <a:latin typeface="Arial" panose="020B0604020202020204" pitchFamily="34" charset="0"/>
                <a:cs typeface="Arial" panose="020B0604020202020204" pitchFamily="34" charset="0"/>
              </a:rPr>
              <a:t>Value creation approaches zero at ~20% acquisition premium</a:t>
            </a:r>
          </a:p>
        </p:txBody>
      </p:sp>
      <p:sp>
        <p:nvSpPr>
          <p:cNvPr id="10" name="TextBox 9">
            <a:extLst>
              <a:ext uri="{FF2B5EF4-FFF2-40B4-BE49-F238E27FC236}">
                <a16:creationId xmlns:a16="http://schemas.microsoft.com/office/drawing/2014/main" id="{CF7D2FB5-8D7A-C4BB-97A7-09345C1762DB}"/>
              </a:ext>
            </a:extLst>
          </p:cNvPr>
          <p:cNvSpPr txBox="1"/>
          <p:nvPr/>
        </p:nvSpPr>
        <p:spPr>
          <a:xfrm>
            <a:off x="6298801" y="1447199"/>
            <a:ext cx="5482800" cy="47808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Key risks &amp; Mitigants</a:t>
            </a:r>
            <a:endParaRPr lang="en-GB" sz="1000" dirty="0">
              <a:solidFill>
                <a:srgbClr val="142A43"/>
              </a:solidFill>
              <a:latin typeface="Arial Bold" panose="020B0704020202020204" pitchFamily="34" charset="0"/>
              <a:cs typeface="Arial Bold" panose="020B0704020202020204" pitchFamily="34" charset="0"/>
            </a:endParaRPr>
          </a:p>
          <a:p>
            <a:endParaRPr lang="en-GB" sz="1600" dirty="0">
              <a:solidFill>
                <a:srgbClr val="6E6E6E"/>
              </a:solidFill>
              <a:latin typeface="Arial" panose="020B0604020202020204" pitchFamily="34" charset="0"/>
              <a:cs typeface="Arial" panose="020B0604020202020204" pitchFamily="34" charset="0"/>
            </a:endParaRPr>
          </a:p>
          <a:p>
            <a:r>
              <a:rPr lang="en-GB" sz="1100" b="1" dirty="0">
                <a:solidFill>
                  <a:srgbClr val="142A43"/>
                </a:solidFill>
                <a:latin typeface="Arial" panose="020B0604020202020204" pitchFamily="34" charset="0"/>
                <a:cs typeface="Arial" panose="020B0604020202020204" pitchFamily="34" charset="0"/>
              </a:rPr>
              <a:t>Synergy Delivery</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Risk</a:t>
            </a:r>
            <a:r>
              <a:rPr lang="en-GB" sz="1100" b="1" dirty="0">
                <a:solidFill>
                  <a:schemeClr val="bg2">
                    <a:lumMod val="25000"/>
                  </a:schemeClr>
                </a:solidFill>
                <a:latin typeface="Arial" panose="020B0604020202020204" pitchFamily="34" charset="0"/>
                <a:cs typeface="Arial" panose="020B0604020202020204" pitchFamily="34" charset="0"/>
              </a:rPr>
              <a:t>:</a:t>
            </a:r>
            <a:r>
              <a:rPr lang="en-GB" sz="1100" dirty="0">
                <a:solidFill>
                  <a:schemeClr val="bg2">
                    <a:lumMod val="25000"/>
                  </a:schemeClr>
                </a:solidFill>
                <a:latin typeface="Arial" panose="020B0604020202020204" pitchFamily="34" charset="0"/>
                <a:cs typeface="Arial" panose="020B0604020202020204" pitchFamily="34" charset="0"/>
              </a:rPr>
              <a:t> Procurement, distribution and overhead savings may take longer or prove harder to realise than forecast.</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Mitigant</a:t>
            </a:r>
            <a:r>
              <a:rPr lang="en-GB" sz="1100" dirty="0">
                <a:solidFill>
                  <a:schemeClr val="bg2">
                    <a:lumMod val="25000"/>
                  </a:schemeClr>
                </a:solidFill>
                <a:latin typeface="Arial" panose="020B0604020202020204" pitchFamily="34" charset="0"/>
                <a:cs typeface="Arial" panose="020B0604020202020204" pitchFamily="34" charset="0"/>
              </a:rPr>
              <a:t>: Phased integration plan with procurement, distribution and head-office savings prioritised early.</a:t>
            </a:r>
          </a:p>
          <a:p>
            <a:endParaRPr lang="en-GB" sz="1600" dirty="0">
              <a:solidFill>
                <a:schemeClr val="bg2">
                  <a:lumMod val="25000"/>
                </a:schemeClr>
              </a:solidFill>
              <a:latin typeface="Arial" panose="020B0604020202020204" pitchFamily="34" charset="0"/>
              <a:cs typeface="Arial" panose="020B0604020202020204" pitchFamily="34" charset="0"/>
            </a:endParaRPr>
          </a:p>
          <a:p>
            <a:r>
              <a:rPr lang="en-GB" sz="1100" b="1" dirty="0">
                <a:solidFill>
                  <a:srgbClr val="142A43"/>
                </a:solidFill>
                <a:latin typeface="Arial" panose="020B0604020202020204" pitchFamily="34" charset="0"/>
                <a:cs typeface="Arial" panose="020B0604020202020204" pitchFamily="34" charset="0"/>
              </a:rPr>
              <a:t>Poundland Profitability</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Risk</a:t>
            </a:r>
            <a:r>
              <a:rPr lang="en-GB" sz="1100" dirty="0">
                <a:solidFill>
                  <a:schemeClr val="bg2">
                    <a:lumMod val="25000"/>
                  </a:schemeClr>
                </a:solidFill>
                <a:latin typeface="Arial" panose="020B0604020202020204" pitchFamily="34" charset="0"/>
                <a:cs typeface="Arial" panose="020B0604020202020204" pitchFamily="34" charset="0"/>
              </a:rPr>
              <a:t>: Poundland's EBITDA margin has fallen materially from historical levels, making the forecast recovery a key assumption.</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Mitigant</a:t>
            </a:r>
            <a:r>
              <a:rPr lang="en-GB" sz="1100" dirty="0">
                <a:solidFill>
                  <a:schemeClr val="bg2">
                    <a:lumMod val="25000"/>
                  </a:schemeClr>
                </a:solidFill>
                <a:latin typeface="Arial" panose="020B0604020202020204" pitchFamily="34" charset="0"/>
                <a:cs typeface="Arial" panose="020B0604020202020204" pitchFamily="34" charset="0"/>
              </a:rPr>
              <a:t>: B&amp;M's operating expertise and scale provide a pathway to margin recovery, but downside cases should be maintained.</a:t>
            </a:r>
          </a:p>
          <a:p>
            <a:endParaRPr lang="en-GB" sz="1600" dirty="0">
              <a:solidFill>
                <a:schemeClr val="bg2">
                  <a:lumMod val="25000"/>
                </a:schemeClr>
              </a:solidFill>
              <a:latin typeface="Arial" panose="020B0604020202020204" pitchFamily="34" charset="0"/>
              <a:cs typeface="Arial" panose="020B0604020202020204" pitchFamily="34" charset="0"/>
            </a:endParaRPr>
          </a:p>
          <a:p>
            <a:r>
              <a:rPr lang="en-GB" sz="1100" b="1" dirty="0">
                <a:solidFill>
                  <a:srgbClr val="142A43"/>
                </a:solidFill>
                <a:latin typeface="Arial" panose="020B0604020202020204" pitchFamily="34" charset="0"/>
                <a:cs typeface="Arial" panose="020B0604020202020204" pitchFamily="34" charset="0"/>
              </a:rPr>
              <a:t>Integration Execution</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Risk</a:t>
            </a:r>
            <a:r>
              <a:rPr lang="en-GB" sz="1100" dirty="0">
                <a:solidFill>
                  <a:schemeClr val="bg2">
                    <a:lumMod val="25000"/>
                  </a:schemeClr>
                </a:solidFill>
                <a:latin typeface="Arial" panose="020B0604020202020204" pitchFamily="34" charset="0"/>
                <a:cs typeface="Arial" panose="020B0604020202020204" pitchFamily="34" charset="0"/>
              </a:rPr>
              <a:t>: IT, systems, store closures and organisational restructuring could create disruption and exceed the £50.5m integration-cost assumption.</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Mitigant</a:t>
            </a:r>
            <a:r>
              <a:rPr lang="en-GB" sz="1100" dirty="0">
                <a:solidFill>
                  <a:schemeClr val="bg2">
                    <a:lumMod val="25000"/>
                  </a:schemeClr>
                </a:solidFill>
                <a:latin typeface="Arial" panose="020B0604020202020204" pitchFamily="34" charset="0"/>
                <a:cs typeface="Arial" panose="020B0604020202020204" pitchFamily="34" charset="0"/>
              </a:rPr>
              <a:t>: Staged integration over FY26E–FY28E and targeted estate rationalisation.</a:t>
            </a:r>
          </a:p>
          <a:p>
            <a:endParaRPr lang="en-GB" sz="1600" dirty="0">
              <a:solidFill>
                <a:schemeClr val="bg2">
                  <a:lumMod val="25000"/>
                </a:schemeClr>
              </a:solidFill>
              <a:latin typeface="Arial" panose="020B0604020202020204" pitchFamily="34" charset="0"/>
              <a:cs typeface="Arial" panose="020B0604020202020204" pitchFamily="34" charset="0"/>
            </a:endParaRPr>
          </a:p>
          <a:p>
            <a:r>
              <a:rPr lang="en-GB" sz="1100" b="1" dirty="0">
                <a:solidFill>
                  <a:srgbClr val="142A43"/>
                </a:solidFill>
                <a:latin typeface="Arial" panose="020B0604020202020204" pitchFamily="34" charset="0"/>
                <a:cs typeface="Arial" panose="020B0604020202020204" pitchFamily="34" charset="0"/>
              </a:rPr>
              <a:t>Purchase Price / Competition</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Risk</a:t>
            </a:r>
            <a:r>
              <a:rPr lang="en-GB" sz="1100" dirty="0">
                <a:solidFill>
                  <a:schemeClr val="bg2">
                    <a:lumMod val="25000"/>
                  </a:schemeClr>
                </a:solidFill>
                <a:latin typeface="Arial" panose="020B0604020202020204" pitchFamily="34" charset="0"/>
                <a:cs typeface="Arial" panose="020B0604020202020204" pitchFamily="34" charset="0"/>
              </a:rPr>
              <a:t>: Competitive bidding or strategic enthusiasm could push the acquisition premium beyond the level supported by the model.</a:t>
            </a:r>
          </a:p>
          <a:p>
            <a:pPr marL="171450" indent="-171450">
              <a:buFont typeface="Arial" panose="020B0604020202020204" pitchFamily="34" charset="0"/>
              <a:buChar char="•"/>
            </a:pPr>
            <a:r>
              <a:rPr lang="en-GB" sz="1100" b="1" dirty="0">
                <a:solidFill>
                  <a:srgbClr val="6E6E6E"/>
                </a:solidFill>
                <a:latin typeface="Arial" panose="020B0604020202020204" pitchFamily="34" charset="0"/>
                <a:cs typeface="Arial" panose="020B0604020202020204" pitchFamily="34" charset="0"/>
              </a:rPr>
              <a:t>Mitigant</a:t>
            </a:r>
            <a:r>
              <a:rPr lang="en-GB" sz="1100" dirty="0">
                <a:solidFill>
                  <a:schemeClr val="bg2">
                    <a:lumMod val="25000"/>
                  </a:schemeClr>
                </a:solidFill>
                <a:latin typeface="Arial" panose="020B0604020202020204" pitchFamily="34" charset="0"/>
                <a:cs typeface="Arial" panose="020B0604020202020204" pitchFamily="34" charset="0"/>
              </a:rPr>
              <a:t>: Maintain a ~20% maximum value-creating premium and walk away above the valuation ceiling.</a:t>
            </a:r>
          </a:p>
        </p:txBody>
      </p:sp>
      <p:sp>
        <p:nvSpPr>
          <p:cNvPr id="5" name="TextBox 4">
            <a:extLst>
              <a:ext uri="{FF2B5EF4-FFF2-40B4-BE49-F238E27FC236}">
                <a16:creationId xmlns:a16="http://schemas.microsoft.com/office/drawing/2014/main" id="{1648644D-C96C-EA6B-89EC-9DFE91088DB6}"/>
              </a:ext>
            </a:extLst>
          </p:cNvPr>
          <p:cNvSpPr txBox="1"/>
          <p:nvPr/>
        </p:nvSpPr>
        <p:spPr>
          <a:xfrm>
            <a:off x="410400" y="4919949"/>
            <a:ext cx="5482800" cy="130805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Synergy Sensitivity</a:t>
            </a:r>
            <a:endParaRPr lang="en-GB" sz="1000" dirty="0">
              <a:solidFill>
                <a:srgbClr val="6E6E6E"/>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r>
              <a:rPr lang="en-GB" sz="1100" dirty="0">
                <a:solidFill>
                  <a:schemeClr val="bg2">
                    <a:lumMod val="25000"/>
                  </a:schemeClr>
                </a:solidFill>
                <a:latin typeface="Arial" panose="020B0604020202020204" pitchFamily="34" charset="0"/>
                <a:cs typeface="Arial" panose="020B0604020202020204" pitchFamily="34" charset="0"/>
              </a:rPr>
              <a:t>The transaction becomes value destructive if less than ~100% of the modelled synergy case is ultimately realised.</a:t>
            </a:r>
          </a:p>
        </p:txBody>
      </p:sp>
      <p:graphicFrame>
        <p:nvGraphicFramePr>
          <p:cNvPr id="9" name="Chart 8">
            <a:extLst>
              <a:ext uri="{FF2B5EF4-FFF2-40B4-BE49-F238E27FC236}">
                <a16:creationId xmlns:a16="http://schemas.microsoft.com/office/drawing/2014/main" id="{A80A850E-5505-5E7A-5D7E-A5BC35D2E142}"/>
              </a:ext>
            </a:extLst>
          </p:cNvPr>
          <p:cNvGraphicFramePr/>
          <p:nvPr>
            <p:extLst>
              <p:ext uri="{D42A27DB-BD31-4B8C-83A1-F6EECF244321}">
                <p14:modId xmlns:p14="http://schemas.microsoft.com/office/powerpoint/2010/main" val="3663196768"/>
              </p:ext>
            </p:extLst>
          </p:nvPr>
        </p:nvGraphicFramePr>
        <p:xfrm>
          <a:off x="577174" y="1705583"/>
          <a:ext cx="5175115" cy="24448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BC27B131-5BC6-2E84-0397-790442EB9902}"/>
              </a:ext>
            </a:extLst>
          </p:cNvPr>
          <p:cNvGraphicFramePr>
            <a:graphicFrameLocks noGrp="1"/>
          </p:cNvGraphicFramePr>
          <p:nvPr>
            <p:extLst>
              <p:ext uri="{D42A27DB-BD31-4B8C-83A1-F6EECF244321}">
                <p14:modId xmlns:p14="http://schemas.microsoft.com/office/powerpoint/2010/main" val="3278307217"/>
              </p:ext>
            </p:extLst>
          </p:nvPr>
        </p:nvGraphicFramePr>
        <p:xfrm>
          <a:off x="410400" y="5226667"/>
          <a:ext cx="5482800" cy="516584"/>
        </p:xfrm>
        <a:graphic>
          <a:graphicData uri="http://schemas.openxmlformats.org/drawingml/2006/table">
            <a:tbl>
              <a:tblPr>
                <a:tableStyleId>{2D5ABB26-0587-4C30-8999-92F81FD0307C}</a:tableStyleId>
              </a:tblPr>
              <a:tblGrid>
                <a:gridCol w="1855021">
                  <a:extLst>
                    <a:ext uri="{9D8B030D-6E8A-4147-A177-3AD203B41FA5}">
                      <a16:colId xmlns:a16="http://schemas.microsoft.com/office/drawing/2014/main" val="2608285216"/>
                    </a:ext>
                  </a:extLst>
                </a:gridCol>
                <a:gridCol w="954758">
                  <a:extLst>
                    <a:ext uri="{9D8B030D-6E8A-4147-A177-3AD203B41FA5}">
                      <a16:colId xmlns:a16="http://schemas.microsoft.com/office/drawing/2014/main" val="4279388324"/>
                    </a:ext>
                  </a:extLst>
                </a:gridCol>
                <a:gridCol w="891007">
                  <a:extLst>
                    <a:ext uri="{9D8B030D-6E8A-4147-A177-3AD203B41FA5}">
                      <a16:colId xmlns:a16="http://schemas.microsoft.com/office/drawing/2014/main" val="1642815393"/>
                    </a:ext>
                  </a:extLst>
                </a:gridCol>
                <a:gridCol w="891007">
                  <a:extLst>
                    <a:ext uri="{9D8B030D-6E8A-4147-A177-3AD203B41FA5}">
                      <a16:colId xmlns:a16="http://schemas.microsoft.com/office/drawing/2014/main" val="4137860802"/>
                    </a:ext>
                  </a:extLst>
                </a:gridCol>
                <a:gridCol w="891007">
                  <a:extLst>
                    <a:ext uri="{9D8B030D-6E8A-4147-A177-3AD203B41FA5}">
                      <a16:colId xmlns:a16="http://schemas.microsoft.com/office/drawing/2014/main" val="3355915769"/>
                    </a:ext>
                  </a:extLst>
                </a:gridCol>
              </a:tblGrid>
              <a:tr h="0">
                <a:tc>
                  <a:txBody>
                    <a:bodyPr/>
                    <a:lstStyle/>
                    <a:p>
                      <a:pPr algn="l">
                        <a:buNone/>
                      </a:pPr>
                      <a:r>
                        <a:rPr lang="en-GB" sz="1100" dirty="0">
                          <a:solidFill>
                            <a:srgbClr val="142A43"/>
                          </a:solidFill>
                          <a:latin typeface="Arial Bold" panose="020B0704020202020204" pitchFamily="34" charset="0"/>
                          <a:cs typeface="Arial Bold" panose="020B0704020202020204" pitchFamily="34" charset="0"/>
                        </a:rPr>
                        <a:t>Synergy Realisation</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50%</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75%</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100%</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tc>
                  <a:txBody>
                    <a:bodyPr/>
                    <a:lstStyle/>
                    <a:p>
                      <a:pPr>
                        <a:buNone/>
                      </a:pPr>
                      <a:r>
                        <a:rPr lang="en-GB" sz="1100" b="1" dirty="0">
                          <a:solidFill>
                            <a:srgbClr val="142A43"/>
                          </a:solidFill>
                          <a:latin typeface="Arial Bold" panose="020B0704020202020204" pitchFamily="34" charset="0"/>
                          <a:cs typeface="Arial Bold" panose="020B0704020202020204" pitchFamily="34" charset="0"/>
                        </a:rPr>
                        <a:t>125%</a:t>
                      </a:r>
                    </a:p>
                  </a:txBody>
                  <a:tcPr marL="90653" marR="90653" marT="45326" marB="45326"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2625185720"/>
                  </a:ext>
                </a:extLst>
              </a:tr>
              <a:tr h="0">
                <a:tc>
                  <a:txBody>
                    <a:bodyPr/>
                    <a:lstStyle/>
                    <a:p>
                      <a:pPr algn="l">
                        <a:buNone/>
                      </a:pPr>
                      <a:r>
                        <a:rPr lang="en-GB" sz="1100" b="0" dirty="0">
                          <a:latin typeface="Arial" panose="020B0604020202020204" pitchFamily="34" charset="0"/>
                          <a:cs typeface="Arial" panose="020B0604020202020204" pitchFamily="34" charset="0"/>
                        </a:rPr>
                        <a:t>Value Creation</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(£41.2m)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(£11.9m)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£17.4m</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tc>
                  <a:txBody>
                    <a:bodyPr/>
                    <a:lstStyle/>
                    <a:p>
                      <a:pPr algn="l">
                        <a:buNone/>
                      </a:pPr>
                      <a:r>
                        <a:rPr lang="en-GB" sz="1100" b="0" dirty="0">
                          <a:latin typeface="Arial" panose="020B0604020202020204" pitchFamily="34" charset="0"/>
                          <a:cs typeface="Arial" panose="020B0604020202020204" pitchFamily="34" charset="0"/>
                        </a:rPr>
                        <a:t>£46.6m </a:t>
                      </a:r>
                    </a:p>
                  </a:txBody>
                  <a:tcPr marL="90653" marR="90653" marT="45326" marB="45326"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F2F4F6"/>
                    </a:solidFill>
                  </a:tcPr>
                </a:tc>
                <a:extLst>
                  <a:ext uri="{0D108BD9-81ED-4DB2-BD59-A6C34878D82A}">
                    <a16:rowId xmlns:a16="http://schemas.microsoft.com/office/drawing/2014/main" val="632915791"/>
                  </a:ext>
                </a:extLst>
              </a:tr>
            </a:tbl>
          </a:graphicData>
        </a:graphic>
      </p:graphicFrame>
    </p:spTree>
    <p:extLst>
      <p:ext uri="{BB962C8B-B14F-4D97-AF65-F5344CB8AC3E}">
        <p14:creationId xmlns:p14="http://schemas.microsoft.com/office/powerpoint/2010/main" val="3942901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C4E00-6EA2-0C48-9E84-46F823C70A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8B75D3-459F-F88A-E6FD-EFE33403B412}"/>
              </a:ext>
            </a:extLst>
          </p:cNvPr>
          <p:cNvSpPr txBox="1"/>
          <p:nvPr/>
        </p:nvSpPr>
        <p:spPr>
          <a:xfrm>
            <a:off x="410400" y="410400"/>
            <a:ext cx="11372400" cy="830997"/>
          </a:xfrm>
          <a:prstGeom prst="rect">
            <a:avLst/>
          </a:prstGeom>
          <a:noFill/>
        </p:spPr>
        <p:txBody>
          <a:bodyPr wrap="square" rtlCol="0">
            <a:spAutoFit/>
          </a:bodyPr>
          <a:lstStyle/>
          <a:p>
            <a:r>
              <a:rPr lang="en-GB" sz="2400" b="1" dirty="0">
                <a:solidFill>
                  <a:srgbClr val="142A43"/>
                </a:solidFill>
                <a:latin typeface="Arial Bold" panose="020B0704020202020204" pitchFamily="34" charset="0"/>
                <a:cs typeface="Arial Bold" panose="020B0704020202020204" pitchFamily="34" charset="0"/>
              </a:rPr>
              <a:t>B&amp;M should proceed with the acquisition at a 15% premium, subject to price discipline and successful integration</a:t>
            </a:r>
          </a:p>
        </p:txBody>
      </p:sp>
      <p:sp>
        <p:nvSpPr>
          <p:cNvPr id="16" name="TextBox 15">
            <a:extLst>
              <a:ext uri="{FF2B5EF4-FFF2-40B4-BE49-F238E27FC236}">
                <a16:creationId xmlns:a16="http://schemas.microsoft.com/office/drawing/2014/main" id="{6BE143E8-CC12-5D44-F6FC-E9F389766722}"/>
              </a:ext>
            </a:extLst>
          </p:cNvPr>
          <p:cNvSpPr txBox="1"/>
          <p:nvPr/>
        </p:nvSpPr>
        <p:spPr>
          <a:xfrm>
            <a:off x="409200" y="1447198"/>
            <a:ext cx="5583600" cy="1616400"/>
          </a:xfrm>
          <a:prstGeom prst="rect">
            <a:avLst/>
          </a:prstGeom>
          <a:solidFill>
            <a:srgbClr val="F2F4F6"/>
          </a:solidFill>
        </p:spPr>
        <p:txBody>
          <a:bodyPr wrap="square" rtlCol="0">
            <a:spAutoFit/>
          </a:bodyPr>
          <a:lstStyle/>
          <a:p>
            <a:r>
              <a:rPr lang="en-GB" sz="2000" dirty="0">
                <a:solidFill>
                  <a:srgbClr val="142A43"/>
                </a:solidFill>
                <a:latin typeface="Arial Bold" panose="020B0704020202020204" pitchFamily="34" charset="0"/>
                <a:cs typeface="Arial Bold" panose="020B0704020202020204" pitchFamily="34" charset="0"/>
              </a:rPr>
              <a:t>Proceed</a:t>
            </a:r>
          </a:p>
          <a:p>
            <a:endParaRPr lang="en-GB" sz="1000" dirty="0">
              <a:solidFill>
                <a:srgbClr val="6E6E6E"/>
              </a:solidFill>
              <a:latin typeface="Arial" panose="020B0604020202020204" pitchFamily="34" charset="0"/>
              <a:cs typeface="Arial" panose="020B0604020202020204" pitchFamily="34" charset="0"/>
            </a:endParaRPr>
          </a:p>
          <a:p>
            <a:pPr lvl="0"/>
            <a:r>
              <a:rPr lang="en-GB" sz="1100" dirty="0">
                <a:solidFill>
                  <a:schemeClr val="bg2">
                    <a:lumMod val="25000"/>
                  </a:schemeClr>
                </a:solidFill>
                <a:latin typeface="Arial" panose="020B0604020202020204" pitchFamily="34" charset="0"/>
                <a:cs typeface="Arial" panose="020B0604020202020204" pitchFamily="34" charset="0"/>
              </a:rPr>
              <a:t>Acquire Poundland for £386.9m equity consideration, representing a 15% premium to standalone value.</a:t>
            </a:r>
          </a:p>
          <a:p>
            <a:pPr lvl="0"/>
            <a:endParaRPr lang="en-GB" sz="1100" dirty="0">
              <a:solidFill>
                <a:schemeClr val="bg2">
                  <a:lumMod val="25000"/>
                </a:schemeClr>
              </a:solidFill>
              <a:latin typeface="Arial" panose="020B0604020202020204" pitchFamily="34" charset="0"/>
              <a:cs typeface="Arial" panose="020B0604020202020204" pitchFamily="34" charset="0"/>
            </a:endParaRPr>
          </a:p>
          <a:p>
            <a:pPr lvl="0"/>
            <a:r>
              <a:rPr lang="en-GB" sz="1100" dirty="0">
                <a:solidFill>
                  <a:schemeClr val="bg2">
                    <a:lumMod val="25000"/>
                  </a:schemeClr>
                </a:solidFill>
                <a:latin typeface="Arial" panose="020B0604020202020204" pitchFamily="34" charset="0"/>
                <a:cs typeface="Arial" panose="020B0604020202020204" pitchFamily="34" charset="0"/>
              </a:rPr>
              <a:t>The transaction creates £17.4m of value in the base case, supported by operational synergies and Poundland's expected profitability recovery.</a:t>
            </a:r>
          </a:p>
        </p:txBody>
      </p:sp>
      <p:sp>
        <p:nvSpPr>
          <p:cNvPr id="21" name="TextBox 20">
            <a:extLst>
              <a:ext uri="{FF2B5EF4-FFF2-40B4-BE49-F238E27FC236}">
                <a16:creationId xmlns:a16="http://schemas.microsoft.com/office/drawing/2014/main" id="{6E3AF94F-6DA3-98D2-5D6E-722F974801F2}"/>
              </a:ext>
            </a:extLst>
          </p:cNvPr>
          <p:cNvSpPr txBox="1"/>
          <p:nvPr/>
        </p:nvSpPr>
        <p:spPr>
          <a:xfrm>
            <a:off x="410400" y="5889600"/>
            <a:ext cx="11376000" cy="261610"/>
          </a:xfrm>
          <a:prstGeom prst="rect">
            <a:avLst/>
          </a:prstGeom>
          <a:solidFill>
            <a:srgbClr val="F2F4F6"/>
          </a:solidFill>
        </p:spPr>
        <p:txBody>
          <a:bodyPr wrap="square" rtlCol="0">
            <a:spAutoFit/>
          </a:bodyPr>
          <a:lstStyle/>
          <a:p>
            <a:r>
              <a:rPr lang="en-GB" sz="1100" b="1" dirty="0">
                <a:solidFill>
                  <a:schemeClr val="bg2">
                    <a:lumMod val="25000"/>
                  </a:schemeClr>
                </a:solidFill>
                <a:latin typeface="Arial" panose="020B0604020202020204" pitchFamily="34" charset="0"/>
                <a:cs typeface="Arial" panose="020B0604020202020204" pitchFamily="34" charset="0"/>
              </a:rPr>
              <a:t>Proceed at 15% premium - attractive strategic and financial upside, subject to disciplined pricing and successful execution.</a:t>
            </a:r>
            <a:endParaRPr lang="en-GB" sz="950" b="1" dirty="0">
              <a:solidFill>
                <a:schemeClr val="bg2">
                  <a:lumMod val="25000"/>
                </a:schemeClr>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FF4BD73B-96C0-B9E4-6507-F5AEE61BA20D}"/>
              </a:ext>
            </a:extLst>
          </p:cNvPr>
          <p:cNvSpPr txBox="1"/>
          <p:nvPr/>
        </p:nvSpPr>
        <p:spPr>
          <a:xfrm>
            <a:off x="409200" y="6349387"/>
            <a:ext cx="9720000" cy="108000"/>
          </a:xfrm>
          <a:prstGeom prst="rect">
            <a:avLst/>
          </a:prstGeom>
          <a:noFill/>
        </p:spPr>
        <p:txBody>
          <a:bodyPr wrap="square" rtlCol="0">
            <a:spAutoFit/>
          </a:bodyPr>
          <a:lstStyle/>
          <a:p>
            <a:r>
              <a:rPr lang="en-GB" sz="1000" dirty="0">
                <a:solidFill>
                  <a:srgbClr val="6E6E6E"/>
                </a:solidFill>
                <a:latin typeface="Arial" panose="020B0604020202020204" pitchFamily="34" charset="0"/>
                <a:cs typeface="Arial" panose="020B0604020202020204" pitchFamily="34" charset="0"/>
              </a:rPr>
              <a:t>Source: Company filings, transaction assumptions, analysis</a:t>
            </a:r>
          </a:p>
        </p:txBody>
      </p:sp>
      <p:sp>
        <p:nvSpPr>
          <p:cNvPr id="23" name="TextBox 22">
            <a:extLst>
              <a:ext uri="{FF2B5EF4-FFF2-40B4-BE49-F238E27FC236}">
                <a16:creationId xmlns:a16="http://schemas.microsoft.com/office/drawing/2014/main" id="{70CD4A5A-D332-A5EC-7C44-F35DB23B746E}"/>
              </a:ext>
            </a:extLst>
          </p:cNvPr>
          <p:cNvSpPr txBox="1"/>
          <p:nvPr/>
        </p:nvSpPr>
        <p:spPr>
          <a:xfrm>
            <a:off x="11421600" y="6349387"/>
            <a:ext cx="360000" cy="246221"/>
          </a:xfrm>
          <a:prstGeom prst="rect">
            <a:avLst/>
          </a:prstGeom>
          <a:noFill/>
        </p:spPr>
        <p:txBody>
          <a:bodyPr wrap="square" rtlCol="0">
            <a:spAutoFit/>
          </a:bodyPr>
          <a:lstStyle/>
          <a:p>
            <a:pPr algn="r"/>
            <a:r>
              <a:rPr lang="en-GB" sz="1000" dirty="0">
                <a:solidFill>
                  <a:srgbClr val="6E6E6E"/>
                </a:solidFill>
                <a:latin typeface="Arial" panose="020B0604020202020204" pitchFamily="34" charset="0"/>
                <a:cs typeface="Arial" panose="020B0604020202020204" pitchFamily="34" charset="0"/>
              </a:rPr>
              <a:t>8</a:t>
            </a:r>
          </a:p>
        </p:txBody>
      </p:sp>
      <p:sp>
        <p:nvSpPr>
          <p:cNvPr id="6" name="TextBox 5">
            <a:extLst>
              <a:ext uri="{FF2B5EF4-FFF2-40B4-BE49-F238E27FC236}">
                <a16:creationId xmlns:a16="http://schemas.microsoft.com/office/drawing/2014/main" id="{6AAE108E-9650-DE18-9345-3D0921C73FCD}"/>
              </a:ext>
            </a:extLst>
          </p:cNvPr>
          <p:cNvSpPr txBox="1"/>
          <p:nvPr/>
        </p:nvSpPr>
        <p:spPr>
          <a:xfrm>
            <a:off x="409199" y="3268800"/>
            <a:ext cx="3654000" cy="12708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Strategic Fit</a:t>
            </a:r>
            <a:endParaRPr lang="en-GB" sz="1000" dirty="0">
              <a:solidFill>
                <a:srgbClr val="142A43"/>
              </a:solidFill>
              <a:latin typeface="Arial Bold" panose="020B0704020202020204" pitchFamily="34" charset="0"/>
              <a:cs typeface="Arial Bold" panose="020B0704020202020204" pitchFamily="34" charset="0"/>
            </a:endParaRPr>
          </a:p>
          <a:p>
            <a:r>
              <a:rPr lang="en-GB" sz="1100" b="1" dirty="0">
                <a:solidFill>
                  <a:srgbClr val="6E6E6E"/>
                </a:solidFill>
                <a:latin typeface="Arial" panose="020B0604020202020204" pitchFamily="34" charset="0"/>
                <a:cs typeface="Arial" panose="020B0604020202020204" pitchFamily="34" charset="0"/>
              </a:rPr>
              <a:t>Expand UK discount retail scale</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000" dirty="0">
                <a:solidFill>
                  <a:schemeClr val="bg2">
                    <a:lumMod val="25000"/>
                  </a:schemeClr>
                </a:solidFill>
                <a:latin typeface="Arial" panose="020B0604020202020204" pitchFamily="34" charset="0"/>
                <a:cs typeface="Arial" panose="020B0604020202020204" pitchFamily="34" charset="0"/>
              </a:rPr>
              <a:t>Increased purchasing scale</a:t>
            </a:r>
          </a:p>
          <a:p>
            <a:pPr marL="171450" lvl="0" indent="-171450">
              <a:buFont typeface="Arial" panose="020B0604020202020204" pitchFamily="34" charset="0"/>
              <a:buChar char="•"/>
            </a:pPr>
            <a:r>
              <a:rPr lang="en-GB" sz="1000" dirty="0">
                <a:solidFill>
                  <a:schemeClr val="bg2">
                    <a:lumMod val="25000"/>
                  </a:schemeClr>
                </a:solidFill>
                <a:latin typeface="Arial" panose="020B0604020202020204" pitchFamily="34" charset="0"/>
                <a:cs typeface="Arial" panose="020B0604020202020204" pitchFamily="34" charset="0"/>
              </a:rPr>
              <a:t>Broader customer reach</a:t>
            </a:r>
          </a:p>
          <a:p>
            <a:pPr marL="171450" lvl="0" indent="-171450">
              <a:buFont typeface="Arial" panose="020B0604020202020204" pitchFamily="34" charset="0"/>
              <a:buChar char="•"/>
            </a:pPr>
            <a:r>
              <a:rPr lang="en-GB" sz="1000" dirty="0">
                <a:solidFill>
                  <a:schemeClr val="bg2">
                    <a:lumMod val="25000"/>
                  </a:schemeClr>
                </a:solidFill>
                <a:latin typeface="Arial" panose="020B0604020202020204" pitchFamily="34" charset="0"/>
                <a:cs typeface="Arial" panose="020B0604020202020204" pitchFamily="34" charset="0"/>
              </a:rPr>
              <a:t>Estate optimisation</a:t>
            </a:r>
          </a:p>
        </p:txBody>
      </p:sp>
      <p:graphicFrame>
        <p:nvGraphicFramePr>
          <p:cNvPr id="5" name="Table 4">
            <a:extLst>
              <a:ext uri="{FF2B5EF4-FFF2-40B4-BE49-F238E27FC236}">
                <a16:creationId xmlns:a16="http://schemas.microsoft.com/office/drawing/2014/main" id="{9F92165D-EFE7-96AB-B946-F49998144569}"/>
              </a:ext>
            </a:extLst>
          </p:cNvPr>
          <p:cNvGraphicFramePr>
            <a:graphicFrameLocks noGrp="1"/>
          </p:cNvGraphicFramePr>
          <p:nvPr>
            <p:extLst>
              <p:ext uri="{D42A27DB-BD31-4B8C-83A1-F6EECF244321}">
                <p14:modId xmlns:p14="http://schemas.microsoft.com/office/powerpoint/2010/main" val="3163713981"/>
              </p:ext>
            </p:extLst>
          </p:nvPr>
        </p:nvGraphicFramePr>
        <p:xfrm>
          <a:off x="6199202" y="1447199"/>
          <a:ext cx="5582398" cy="1617544"/>
        </p:xfrm>
        <a:graphic>
          <a:graphicData uri="http://schemas.openxmlformats.org/drawingml/2006/table">
            <a:tbl>
              <a:tblPr>
                <a:tableStyleId>{2D5ABB26-0587-4C30-8999-92F81FD0307C}</a:tableStyleId>
              </a:tblPr>
              <a:tblGrid>
                <a:gridCol w="2962183">
                  <a:extLst>
                    <a:ext uri="{9D8B030D-6E8A-4147-A177-3AD203B41FA5}">
                      <a16:colId xmlns:a16="http://schemas.microsoft.com/office/drawing/2014/main" val="3301146629"/>
                    </a:ext>
                  </a:extLst>
                </a:gridCol>
                <a:gridCol w="2620215">
                  <a:extLst>
                    <a:ext uri="{9D8B030D-6E8A-4147-A177-3AD203B41FA5}">
                      <a16:colId xmlns:a16="http://schemas.microsoft.com/office/drawing/2014/main" val="3271972755"/>
                    </a:ext>
                  </a:extLst>
                </a:gridCol>
              </a:tblGrid>
              <a:tr h="128780">
                <a:tc gridSpan="2">
                  <a:txBody>
                    <a:bodyPr/>
                    <a:lstStyle/>
                    <a:p>
                      <a:pPr>
                        <a:buNone/>
                      </a:pPr>
                      <a:r>
                        <a:rPr lang="en-GB" sz="1050" dirty="0">
                          <a:solidFill>
                            <a:srgbClr val="142A43"/>
                          </a:solidFill>
                          <a:latin typeface="Arial Bold" panose="020B0704020202020204" pitchFamily="34" charset="0"/>
                          <a:cs typeface="Arial Bold" panose="020B0704020202020204" pitchFamily="34" charset="0"/>
                        </a:rPr>
                        <a:t>Transaction Overview</a:t>
                      </a:r>
                    </a:p>
                  </a:txBody>
                  <a:tcPr marL="90653" marR="90653" marT="45326" marB="45326" anchor="ctr">
                    <a:lnB w="12700" cap="flat" cmpd="sng" algn="ctr">
                      <a:solidFill>
                        <a:schemeClr val="tx1"/>
                      </a:solidFill>
                      <a:prstDash val="solid"/>
                      <a:round/>
                      <a:headEnd type="none" w="med" len="med"/>
                      <a:tailEnd type="none" w="med" len="med"/>
                    </a:lnB>
                    <a:solidFill>
                      <a:srgbClr val="F2F4F6"/>
                    </a:solidFill>
                  </a:tcPr>
                </a:tc>
                <a:tc hMerge="1">
                  <a:txBody>
                    <a:bodyPr/>
                    <a:lstStyle/>
                    <a:p>
                      <a:pPr algn="r">
                        <a:buNone/>
                      </a:pPr>
                      <a:endParaRPr lang="en-GB" sz="1100" dirty="0">
                        <a:latin typeface="Arial" panose="020B0604020202020204" pitchFamily="34" charset="0"/>
                        <a:cs typeface="Arial" panose="020B0604020202020204" pitchFamily="34" charset="0"/>
                      </a:endParaRPr>
                    </a:p>
                  </a:txBody>
                  <a:tcPr marL="90653" marR="90653" marT="45326" marB="45326" anchor="ctr">
                    <a:solidFill>
                      <a:srgbClr val="F2F4F6"/>
                    </a:solidFill>
                  </a:tcPr>
                </a:tc>
                <a:extLst>
                  <a:ext uri="{0D108BD9-81ED-4DB2-BD59-A6C34878D82A}">
                    <a16:rowId xmlns:a16="http://schemas.microsoft.com/office/drawing/2014/main" val="2625185720"/>
                  </a:ext>
                </a:extLst>
              </a:tr>
              <a:tr h="117036">
                <a:tc>
                  <a:txBody>
                    <a:bodyPr/>
                    <a:lstStyle/>
                    <a:p>
                      <a:pPr>
                        <a:buNone/>
                      </a:pPr>
                      <a:r>
                        <a:rPr lang="en-GB" sz="900" b="0" dirty="0">
                          <a:latin typeface="Arial" panose="020B0604020202020204" pitchFamily="34" charset="0"/>
                          <a:cs typeface="Arial" panose="020B0604020202020204" pitchFamily="34" charset="0"/>
                        </a:rPr>
                        <a:t>Standalone Equity Value</a:t>
                      </a:r>
                    </a:p>
                  </a:txBody>
                  <a:tcPr marL="90653" marR="90653" marT="45326" marB="45326" anchor="ctr">
                    <a:lnT w="12700" cap="flat" cmpd="sng" algn="ctr">
                      <a:solidFill>
                        <a:schemeClr val="tx1"/>
                      </a:solidFill>
                      <a:prstDash val="solid"/>
                      <a:round/>
                      <a:headEnd type="none" w="med" len="med"/>
                      <a:tailEnd type="none" w="med" len="med"/>
                    </a:lnT>
                    <a:solidFill>
                      <a:srgbClr val="F2F4F6"/>
                    </a:solidFill>
                  </a:tcPr>
                </a:tc>
                <a:tc>
                  <a:txBody>
                    <a:bodyPr/>
                    <a:lstStyle/>
                    <a:p>
                      <a:pPr algn="r">
                        <a:buNone/>
                      </a:pPr>
                      <a:r>
                        <a:rPr lang="en-GB" sz="900" b="0" dirty="0">
                          <a:latin typeface="Arial" panose="020B0604020202020204" pitchFamily="34" charset="0"/>
                          <a:cs typeface="Arial" panose="020B0604020202020204" pitchFamily="34" charset="0"/>
                        </a:rPr>
                        <a:t>£336.4m</a:t>
                      </a:r>
                    </a:p>
                  </a:txBody>
                  <a:tcPr marL="90653" marR="90653" marT="45326" marB="45326" anchor="ctr">
                    <a:lnT w="12700" cap="flat" cmpd="sng" algn="ctr">
                      <a:solidFill>
                        <a:schemeClr val="tx1"/>
                      </a:solidFill>
                      <a:prstDash val="solid"/>
                      <a:round/>
                      <a:headEnd type="none" w="med" len="med"/>
                      <a:tailEnd type="none" w="med" len="med"/>
                    </a:lnT>
                    <a:solidFill>
                      <a:srgbClr val="F2F4F6"/>
                    </a:solidFill>
                  </a:tcPr>
                </a:tc>
                <a:extLst>
                  <a:ext uri="{0D108BD9-81ED-4DB2-BD59-A6C34878D82A}">
                    <a16:rowId xmlns:a16="http://schemas.microsoft.com/office/drawing/2014/main" val="3957801000"/>
                  </a:ext>
                </a:extLst>
              </a:tr>
              <a:tr h="117036">
                <a:tc>
                  <a:txBody>
                    <a:bodyPr/>
                    <a:lstStyle/>
                    <a:p>
                      <a:pPr>
                        <a:buNone/>
                      </a:pPr>
                      <a:r>
                        <a:rPr lang="en-GB" sz="900" b="0" dirty="0">
                          <a:latin typeface="Arial" panose="020B0604020202020204" pitchFamily="34" charset="0"/>
                          <a:cs typeface="Arial" panose="020B0604020202020204" pitchFamily="34" charset="0"/>
                        </a:rPr>
                        <a:t>Acquisition Premium</a:t>
                      </a:r>
                    </a:p>
                  </a:txBody>
                  <a:tcPr marL="90653" marR="90653" marT="45326" marB="45326" anchor="ctr">
                    <a:solidFill>
                      <a:srgbClr val="F2F4F6"/>
                    </a:solidFill>
                  </a:tcPr>
                </a:tc>
                <a:tc>
                  <a:txBody>
                    <a:bodyPr/>
                    <a:lstStyle/>
                    <a:p>
                      <a:pPr algn="r">
                        <a:buNone/>
                      </a:pPr>
                      <a:r>
                        <a:rPr lang="en-GB" sz="900" b="0" dirty="0">
                          <a:latin typeface="Arial" panose="020B0604020202020204" pitchFamily="34" charset="0"/>
                          <a:cs typeface="Arial" panose="020B0604020202020204" pitchFamily="34" charset="0"/>
                        </a:rPr>
                        <a:t>15.0%</a:t>
                      </a:r>
                    </a:p>
                  </a:txBody>
                  <a:tcPr marL="90653" marR="90653" marT="45326" marB="45326" anchor="ctr">
                    <a:solidFill>
                      <a:srgbClr val="F2F4F6"/>
                    </a:solidFill>
                  </a:tcPr>
                </a:tc>
                <a:extLst>
                  <a:ext uri="{0D108BD9-81ED-4DB2-BD59-A6C34878D82A}">
                    <a16:rowId xmlns:a16="http://schemas.microsoft.com/office/drawing/2014/main" val="1097525753"/>
                  </a:ext>
                </a:extLst>
              </a:tr>
              <a:tr h="117036">
                <a:tc>
                  <a:txBody>
                    <a:bodyPr/>
                    <a:lstStyle/>
                    <a:p>
                      <a:pPr>
                        <a:buNone/>
                      </a:pPr>
                      <a:r>
                        <a:rPr lang="en-GB" sz="900" b="0" dirty="0">
                          <a:latin typeface="Arial" panose="020B0604020202020204" pitchFamily="34" charset="0"/>
                          <a:cs typeface="Arial" panose="020B0604020202020204" pitchFamily="34" charset="0"/>
                        </a:rPr>
                        <a:t>Equity Purchase Price</a:t>
                      </a:r>
                    </a:p>
                  </a:txBody>
                  <a:tcPr marL="90653" marR="90653" marT="45326" marB="45326" anchor="ctr">
                    <a:solidFill>
                      <a:srgbClr val="F2F4F6"/>
                    </a:solidFill>
                  </a:tcPr>
                </a:tc>
                <a:tc>
                  <a:txBody>
                    <a:bodyPr/>
                    <a:lstStyle/>
                    <a:p>
                      <a:pPr algn="r">
                        <a:buNone/>
                      </a:pPr>
                      <a:r>
                        <a:rPr lang="en-GB" sz="900" b="0" dirty="0">
                          <a:latin typeface="Arial" panose="020B0604020202020204" pitchFamily="34" charset="0"/>
                          <a:cs typeface="Arial" panose="020B0604020202020204" pitchFamily="34" charset="0"/>
                        </a:rPr>
                        <a:t>£386.9m</a:t>
                      </a:r>
                    </a:p>
                  </a:txBody>
                  <a:tcPr marL="90653" marR="90653" marT="45326" marB="45326" anchor="ctr">
                    <a:solidFill>
                      <a:srgbClr val="F2F4F6"/>
                    </a:solidFill>
                  </a:tcPr>
                </a:tc>
                <a:extLst>
                  <a:ext uri="{0D108BD9-81ED-4DB2-BD59-A6C34878D82A}">
                    <a16:rowId xmlns:a16="http://schemas.microsoft.com/office/drawing/2014/main" val="2798717383"/>
                  </a:ext>
                </a:extLst>
              </a:tr>
              <a:tr h="117036">
                <a:tc>
                  <a:txBody>
                    <a:bodyPr/>
                    <a:lstStyle/>
                    <a:p>
                      <a:pPr>
                        <a:buNone/>
                      </a:pPr>
                      <a:r>
                        <a:rPr lang="en-GB" sz="900" b="0" dirty="0">
                          <a:latin typeface="Arial" panose="020B0604020202020204" pitchFamily="34" charset="0"/>
                          <a:cs typeface="Arial" panose="020B0604020202020204" pitchFamily="34" charset="0"/>
                        </a:rPr>
                        <a:t>Transaction EV</a:t>
                      </a:r>
                    </a:p>
                  </a:txBody>
                  <a:tcPr marL="90653" marR="90653" marT="45326" marB="45326" anchor="ctr">
                    <a:solidFill>
                      <a:srgbClr val="F2F4F6"/>
                    </a:solidFill>
                  </a:tcPr>
                </a:tc>
                <a:tc>
                  <a:txBody>
                    <a:bodyPr/>
                    <a:lstStyle/>
                    <a:p>
                      <a:pPr algn="r">
                        <a:buNone/>
                      </a:pPr>
                      <a:r>
                        <a:rPr lang="en-GB" sz="900" b="0" dirty="0">
                          <a:latin typeface="Arial" panose="020B0604020202020204" pitchFamily="34" charset="0"/>
                          <a:cs typeface="Arial" panose="020B0604020202020204" pitchFamily="34" charset="0"/>
                        </a:rPr>
                        <a:t>£434.3m</a:t>
                      </a:r>
                    </a:p>
                  </a:txBody>
                  <a:tcPr marL="90653" marR="90653" marT="45326" marB="45326" anchor="ctr">
                    <a:solidFill>
                      <a:srgbClr val="F2F4F6"/>
                    </a:solidFill>
                  </a:tcPr>
                </a:tc>
                <a:extLst>
                  <a:ext uri="{0D108BD9-81ED-4DB2-BD59-A6C34878D82A}">
                    <a16:rowId xmlns:a16="http://schemas.microsoft.com/office/drawing/2014/main" val="3100424851"/>
                  </a:ext>
                </a:extLst>
              </a:tr>
              <a:tr h="117036">
                <a:tc>
                  <a:txBody>
                    <a:bodyPr/>
                    <a:lstStyle/>
                    <a:p>
                      <a:pPr>
                        <a:buNone/>
                      </a:pPr>
                      <a:r>
                        <a:rPr lang="en-GB" sz="900" b="0" dirty="0">
                          <a:latin typeface="Arial" panose="020B0604020202020204" pitchFamily="34" charset="0"/>
                          <a:cs typeface="Arial" panose="020B0604020202020204" pitchFamily="34" charset="0"/>
                        </a:rPr>
                        <a:t>Financing</a:t>
                      </a:r>
                    </a:p>
                  </a:txBody>
                  <a:tcPr marL="90653" marR="90653" marT="45326" marB="45326" anchor="ctr">
                    <a:solidFill>
                      <a:srgbClr val="F2F4F6"/>
                    </a:solidFill>
                  </a:tcPr>
                </a:tc>
                <a:tc>
                  <a:txBody>
                    <a:bodyPr/>
                    <a:lstStyle/>
                    <a:p>
                      <a:pPr algn="r">
                        <a:buNone/>
                      </a:pPr>
                      <a:r>
                        <a:rPr lang="en-GB" sz="900" b="0" dirty="0">
                          <a:latin typeface="Arial" panose="020B0604020202020204" pitchFamily="34" charset="0"/>
                          <a:cs typeface="Arial" panose="020B0604020202020204" pitchFamily="34" charset="0"/>
                        </a:rPr>
                        <a:t>50% cash / 50% debt</a:t>
                      </a:r>
                    </a:p>
                  </a:txBody>
                  <a:tcPr marL="90653" marR="90653" marT="45326" marB="45326" anchor="ctr">
                    <a:solidFill>
                      <a:srgbClr val="F2F4F6"/>
                    </a:solidFill>
                  </a:tcPr>
                </a:tc>
                <a:extLst>
                  <a:ext uri="{0D108BD9-81ED-4DB2-BD59-A6C34878D82A}">
                    <a16:rowId xmlns:a16="http://schemas.microsoft.com/office/drawing/2014/main" val="2885414008"/>
                  </a:ext>
                </a:extLst>
              </a:tr>
              <a:tr h="117036">
                <a:tc>
                  <a:txBody>
                    <a:bodyPr/>
                    <a:lstStyle/>
                    <a:p>
                      <a:pPr>
                        <a:buNone/>
                      </a:pPr>
                      <a:r>
                        <a:rPr lang="en-GB" sz="900" b="0" dirty="0">
                          <a:latin typeface="Arial" panose="020B0604020202020204" pitchFamily="34" charset="0"/>
                          <a:cs typeface="Arial" panose="020B0604020202020204" pitchFamily="34" charset="0"/>
                        </a:rPr>
                        <a:t>Value Creation</a:t>
                      </a:r>
                    </a:p>
                  </a:txBody>
                  <a:tcPr marL="90653" marR="90653" marT="45326" marB="45326" anchor="ctr">
                    <a:solidFill>
                      <a:srgbClr val="F2F4F6"/>
                    </a:solidFill>
                  </a:tcPr>
                </a:tc>
                <a:tc>
                  <a:txBody>
                    <a:bodyPr/>
                    <a:lstStyle/>
                    <a:p>
                      <a:pPr algn="r">
                        <a:buNone/>
                      </a:pPr>
                      <a:r>
                        <a:rPr lang="en-GB" sz="900" b="0" dirty="0">
                          <a:latin typeface="Arial" panose="020B0604020202020204" pitchFamily="34" charset="0"/>
                          <a:cs typeface="Arial" panose="020B0604020202020204" pitchFamily="34" charset="0"/>
                        </a:rPr>
                        <a:t>£17.4m</a:t>
                      </a:r>
                    </a:p>
                  </a:txBody>
                  <a:tcPr marL="90653" marR="90653" marT="45326" marB="45326" anchor="ctr">
                    <a:solidFill>
                      <a:srgbClr val="F2F4F6"/>
                    </a:solidFill>
                  </a:tcPr>
                </a:tc>
                <a:extLst>
                  <a:ext uri="{0D108BD9-81ED-4DB2-BD59-A6C34878D82A}">
                    <a16:rowId xmlns:a16="http://schemas.microsoft.com/office/drawing/2014/main" val="1410242667"/>
                  </a:ext>
                </a:extLst>
              </a:tr>
            </a:tbl>
          </a:graphicData>
        </a:graphic>
      </p:graphicFrame>
      <p:sp>
        <p:nvSpPr>
          <p:cNvPr id="8" name="TextBox 7">
            <a:extLst>
              <a:ext uri="{FF2B5EF4-FFF2-40B4-BE49-F238E27FC236}">
                <a16:creationId xmlns:a16="http://schemas.microsoft.com/office/drawing/2014/main" id="{E1C81DE1-D63A-3F06-6927-9E0A1FFEE64E}"/>
              </a:ext>
            </a:extLst>
          </p:cNvPr>
          <p:cNvSpPr txBox="1"/>
          <p:nvPr/>
        </p:nvSpPr>
        <p:spPr>
          <a:xfrm>
            <a:off x="8127600" y="3268799"/>
            <a:ext cx="3654000" cy="12708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Financial Discipline</a:t>
            </a:r>
            <a:endParaRPr lang="en-GB" sz="1000" dirty="0">
              <a:solidFill>
                <a:srgbClr val="142A43"/>
              </a:solidFill>
              <a:latin typeface="Arial Bold" panose="020B0704020202020204" pitchFamily="34" charset="0"/>
              <a:cs typeface="Arial Bold" panose="020B0704020202020204" pitchFamily="34" charset="0"/>
            </a:endParaRPr>
          </a:p>
          <a:p>
            <a:r>
              <a:rPr lang="en-GB" sz="1100" b="1" dirty="0">
                <a:solidFill>
                  <a:srgbClr val="6E6E6E"/>
                </a:solidFill>
                <a:latin typeface="Arial" panose="020B0604020202020204" pitchFamily="34" charset="0"/>
                <a:cs typeface="Arial" panose="020B0604020202020204" pitchFamily="34" charset="0"/>
              </a:rPr>
              <a:t>Attractive economics without excessive leverage</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050" b="1" dirty="0">
                <a:solidFill>
                  <a:schemeClr val="bg2">
                    <a:lumMod val="25000"/>
                  </a:schemeClr>
                </a:solidFill>
                <a:latin typeface="Arial" panose="020B0604020202020204" pitchFamily="34" charset="0"/>
                <a:cs typeface="Arial" panose="020B0604020202020204" pitchFamily="34" charset="0"/>
              </a:rPr>
              <a:t>3.5%</a:t>
            </a:r>
            <a:r>
              <a:rPr lang="en-GB" sz="1050" dirty="0">
                <a:solidFill>
                  <a:schemeClr val="bg2">
                    <a:lumMod val="25000"/>
                  </a:schemeClr>
                </a:solidFill>
                <a:latin typeface="Arial" panose="020B0604020202020204" pitchFamily="34" charset="0"/>
                <a:cs typeface="Arial" panose="020B0604020202020204" pitchFamily="34" charset="0"/>
              </a:rPr>
              <a:t> </a:t>
            </a:r>
            <a:r>
              <a:rPr lang="en-GB" sz="1000" dirty="0">
                <a:solidFill>
                  <a:schemeClr val="bg2">
                    <a:lumMod val="25000"/>
                  </a:schemeClr>
                </a:solidFill>
                <a:latin typeface="Arial" panose="020B0604020202020204" pitchFamily="34" charset="0"/>
                <a:cs typeface="Arial" panose="020B0604020202020204" pitchFamily="34" charset="0"/>
              </a:rPr>
              <a:t>FY28E EPS accretion</a:t>
            </a:r>
          </a:p>
          <a:p>
            <a:pPr marL="171450" lvl="0" indent="-171450">
              <a:buFont typeface="Arial" panose="020B0604020202020204" pitchFamily="34" charset="0"/>
              <a:buChar char="•"/>
            </a:pPr>
            <a:r>
              <a:rPr lang="en-GB" sz="1050" b="1" dirty="0">
                <a:solidFill>
                  <a:schemeClr val="bg2">
                    <a:lumMod val="25000"/>
                  </a:schemeClr>
                </a:solidFill>
                <a:latin typeface="Arial" panose="020B0604020202020204" pitchFamily="34" charset="0"/>
                <a:cs typeface="Arial" panose="020B0604020202020204" pitchFamily="34" charset="0"/>
              </a:rPr>
              <a:t>1.58x</a:t>
            </a:r>
            <a:r>
              <a:rPr lang="en-GB" sz="1000" dirty="0">
                <a:solidFill>
                  <a:schemeClr val="bg2">
                    <a:lumMod val="25000"/>
                  </a:schemeClr>
                </a:solidFill>
                <a:latin typeface="Arial" panose="020B0604020202020204" pitchFamily="34" charset="0"/>
                <a:cs typeface="Arial" panose="020B0604020202020204" pitchFamily="34" charset="0"/>
              </a:rPr>
              <a:t> post-transaction PF ND/EBITDA</a:t>
            </a:r>
          </a:p>
          <a:p>
            <a:pPr marL="171450" lvl="0" indent="-171450">
              <a:buFont typeface="Arial" panose="020B0604020202020204" pitchFamily="34" charset="0"/>
              <a:buChar char="•"/>
            </a:pPr>
            <a:r>
              <a:rPr lang="en-GB" sz="1050" b="1" dirty="0">
                <a:solidFill>
                  <a:schemeClr val="bg2">
                    <a:lumMod val="25000"/>
                  </a:schemeClr>
                </a:solidFill>
                <a:latin typeface="Arial" panose="020B0604020202020204" pitchFamily="34" charset="0"/>
                <a:cs typeface="Arial" panose="020B0604020202020204" pitchFamily="34" charset="0"/>
              </a:rPr>
              <a:t>~20% </a:t>
            </a:r>
            <a:r>
              <a:rPr lang="en-GB" sz="1000" dirty="0">
                <a:solidFill>
                  <a:schemeClr val="bg2">
                    <a:lumMod val="25000"/>
                  </a:schemeClr>
                </a:solidFill>
                <a:latin typeface="Arial" panose="020B0604020202020204" pitchFamily="34" charset="0"/>
                <a:cs typeface="Arial" panose="020B0604020202020204" pitchFamily="34" charset="0"/>
              </a:rPr>
              <a:t>value-creating premium ceiling</a:t>
            </a:r>
          </a:p>
        </p:txBody>
      </p:sp>
      <p:sp>
        <p:nvSpPr>
          <p:cNvPr id="11" name="TextBox 10">
            <a:extLst>
              <a:ext uri="{FF2B5EF4-FFF2-40B4-BE49-F238E27FC236}">
                <a16:creationId xmlns:a16="http://schemas.microsoft.com/office/drawing/2014/main" id="{A17978F3-30BE-8BA7-A707-3F34AC035877}"/>
              </a:ext>
            </a:extLst>
          </p:cNvPr>
          <p:cNvSpPr txBox="1"/>
          <p:nvPr/>
        </p:nvSpPr>
        <p:spPr>
          <a:xfrm>
            <a:off x="4268400" y="3268800"/>
            <a:ext cx="3654000" cy="12708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Value Creation</a:t>
            </a:r>
            <a:endParaRPr lang="en-GB" sz="1000" dirty="0">
              <a:solidFill>
                <a:srgbClr val="142A43"/>
              </a:solidFill>
              <a:latin typeface="Arial Bold" panose="020B0704020202020204" pitchFamily="34" charset="0"/>
              <a:cs typeface="Arial Bold" panose="020B0704020202020204" pitchFamily="34" charset="0"/>
            </a:endParaRPr>
          </a:p>
          <a:p>
            <a:r>
              <a:rPr lang="en-GB" sz="1100" b="1" dirty="0">
                <a:solidFill>
                  <a:srgbClr val="6E6E6E"/>
                </a:solidFill>
                <a:latin typeface="Arial" panose="020B0604020202020204" pitchFamily="34" charset="0"/>
                <a:cs typeface="Arial" panose="020B0604020202020204" pitchFamily="34" charset="0"/>
              </a:rPr>
              <a:t>Operational improvement provides significant upside</a:t>
            </a:r>
          </a:p>
          <a:p>
            <a:endParaRPr lang="en-GB" sz="1000" dirty="0">
              <a:solidFill>
                <a:srgbClr val="6E6E6E"/>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GB" sz="1050" b="1" dirty="0">
                <a:solidFill>
                  <a:schemeClr val="bg2">
                    <a:lumMod val="25000"/>
                  </a:schemeClr>
                </a:solidFill>
                <a:latin typeface="Arial" panose="020B0604020202020204" pitchFamily="34" charset="0"/>
                <a:cs typeface="Arial" panose="020B0604020202020204" pitchFamily="34" charset="0"/>
              </a:rPr>
              <a:t>£61.5m </a:t>
            </a:r>
            <a:r>
              <a:rPr lang="en-GB" sz="1000" dirty="0">
                <a:solidFill>
                  <a:schemeClr val="bg2">
                    <a:lumMod val="25000"/>
                  </a:schemeClr>
                </a:solidFill>
                <a:latin typeface="Arial" panose="020B0604020202020204" pitchFamily="34" charset="0"/>
                <a:cs typeface="Arial" panose="020B0604020202020204" pitchFamily="34" charset="0"/>
              </a:rPr>
              <a:t>FY30E EBITDA synergies</a:t>
            </a:r>
          </a:p>
          <a:p>
            <a:pPr marL="171450" lvl="0" indent="-171450">
              <a:buFont typeface="Arial" panose="020B0604020202020204" pitchFamily="34" charset="0"/>
              <a:buChar char="•"/>
            </a:pPr>
            <a:r>
              <a:rPr lang="en-GB" sz="1050" b="1" dirty="0">
                <a:solidFill>
                  <a:schemeClr val="bg2">
                    <a:lumMod val="25000"/>
                  </a:schemeClr>
                </a:solidFill>
                <a:latin typeface="Arial" panose="020B0604020202020204" pitchFamily="34" charset="0"/>
                <a:cs typeface="Arial" panose="020B0604020202020204" pitchFamily="34" charset="0"/>
              </a:rPr>
              <a:t>£167.7m </a:t>
            </a:r>
            <a:r>
              <a:rPr lang="en-GB" sz="1000" dirty="0">
                <a:solidFill>
                  <a:schemeClr val="bg2">
                    <a:lumMod val="25000"/>
                  </a:schemeClr>
                </a:solidFill>
                <a:latin typeface="Arial" panose="020B0604020202020204" pitchFamily="34" charset="0"/>
                <a:cs typeface="Arial" panose="020B0604020202020204" pitchFamily="34" charset="0"/>
              </a:rPr>
              <a:t>cumulative incremental FCF</a:t>
            </a:r>
          </a:p>
          <a:p>
            <a:pPr marL="171450" lvl="0" indent="-171450">
              <a:buFont typeface="Arial" panose="020B0604020202020204" pitchFamily="34" charset="0"/>
              <a:buChar char="•"/>
            </a:pPr>
            <a:r>
              <a:rPr lang="en-GB" sz="1050" b="1" dirty="0">
                <a:solidFill>
                  <a:schemeClr val="bg2">
                    <a:lumMod val="25000"/>
                  </a:schemeClr>
                </a:solidFill>
                <a:latin typeface="Arial" panose="020B0604020202020204" pitchFamily="34" charset="0"/>
                <a:cs typeface="Arial" panose="020B0604020202020204" pitchFamily="34" charset="0"/>
              </a:rPr>
              <a:t>31.0%</a:t>
            </a:r>
            <a:r>
              <a:rPr lang="en-GB" sz="1000" dirty="0">
                <a:solidFill>
                  <a:schemeClr val="bg2">
                    <a:lumMod val="25000"/>
                  </a:schemeClr>
                </a:solidFill>
                <a:latin typeface="Arial" panose="020B0604020202020204" pitchFamily="34" charset="0"/>
                <a:cs typeface="Arial" panose="020B0604020202020204" pitchFamily="34" charset="0"/>
              </a:rPr>
              <a:t> FY30E EPS accretion</a:t>
            </a:r>
          </a:p>
        </p:txBody>
      </p:sp>
      <p:sp>
        <p:nvSpPr>
          <p:cNvPr id="15" name="TextBox 14">
            <a:extLst>
              <a:ext uri="{FF2B5EF4-FFF2-40B4-BE49-F238E27FC236}">
                <a16:creationId xmlns:a16="http://schemas.microsoft.com/office/drawing/2014/main" id="{49EA0A50-0543-F7A5-9570-398FF44EB574}"/>
              </a:ext>
            </a:extLst>
          </p:cNvPr>
          <p:cNvSpPr txBox="1"/>
          <p:nvPr/>
        </p:nvSpPr>
        <p:spPr>
          <a:xfrm>
            <a:off x="409200" y="4744799"/>
            <a:ext cx="3790800" cy="939600"/>
          </a:xfrm>
          <a:prstGeom prst="rect">
            <a:avLst/>
          </a:prstGeom>
          <a:solidFill>
            <a:srgbClr val="F2F4F6"/>
          </a:solidFill>
        </p:spPr>
        <p:txBody>
          <a:bodyPr wrap="square" rtlCol="0">
            <a:spAutoFit/>
          </a:bodyPr>
          <a:lstStyle/>
          <a:p>
            <a:r>
              <a:rPr lang="en-GB" sz="1300" dirty="0">
                <a:solidFill>
                  <a:srgbClr val="142A43"/>
                </a:solidFill>
                <a:latin typeface="Arial Bold" panose="020B0704020202020204" pitchFamily="34" charset="0"/>
                <a:cs typeface="Arial Bold" panose="020B0704020202020204" pitchFamily="34" charset="0"/>
              </a:rPr>
              <a:t>Conditions to Proceed</a:t>
            </a:r>
            <a:endParaRPr lang="en-GB" sz="1000" dirty="0">
              <a:solidFill>
                <a:srgbClr val="142A43"/>
              </a:solidFill>
              <a:latin typeface="Arial Bold" panose="020B0704020202020204" pitchFamily="34" charset="0"/>
              <a:cs typeface="Arial Bold" panose="020B0704020202020204" pitchFamily="34" charset="0"/>
            </a:endParaRPr>
          </a:p>
          <a:p>
            <a:endParaRPr lang="en-GB" sz="900" dirty="0">
              <a:solidFill>
                <a:srgbClr val="6E6E6E"/>
              </a:solidFill>
              <a:latin typeface="Arial" panose="020B0604020202020204" pitchFamily="34" charset="0"/>
              <a:cs typeface="Arial" panose="020B0604020202020204" pitchFamily="34" charset="0"/>
            </a:endParaRPr>
          </a:p>
          <a:p>
            <a:r>
              <a:rPr lang="en-GB" sz="1100" b="1" dirty="0">
                <a:solidFill>
                  <a:srgbClr val="142A43"/>
                </a:solidFill>
                <a:latin typeface="Arial" panose="020B0604020202020204" pitchFamily="34" charset="0"/>
                <a:cs typeface="Arial" panose="020B0604020202020204" pitchFamily="34" charset="0"/>
              </a:rPr>
              <a:t>Maintain Price Discipline</a:t>
            </a:r>
          </a:p>
          <a:p>
            <a:r>
              <a:rPr lang="en-GB" sz="1100" dirty="0">
                <a:solidFill>
                  <a:schemeClr val="bg2">
                    <a:lumMod val="25000"/>
                  </a:schemeClr>
                </a:solidFill>
                <a:latin typeface="Arial" panose="020B0604020202020204" pitchFamily="34" charset="0"/>
                <a:cs typeface="Arial" panose="020B0604020202020204" pitchFamily="34" charset="0"/>
              </a:rPr>
              <a:t>Do not exceed the ~20% value-creating premium ceiling absent additional identified value.</a:t>
            </a:r>
          </a:p>
        </p:txBody>
      </p:sp>
      <p:sp>
        <p:nvSpPr>
          <p:cNvPr id="18" name="TextBox 17">
            <a:extLst>
              <a:ext uri="{FF2B5EF4-FFF2-40B4-BE49-F238E27FC236}">
                <a16:creationId xmlns:a16="http://schemas.microsoft.com/office/drawing/2014/main" id="{2735D8AF-D42A-D3C4-FA80-CA8AEDA0D84A}"/>
              </a:ext>
            </a:extLst>
          </p:cNvPr>
          <p:cNvSpPr txBox="1"/>
          <p:nvPr/>
        </p:nvSpPr>
        <p:spPr>
          <a:xfrm>
            <a:off x="4200601" y="4744799"/>
            <a:ext cx="3790800" cy="938719"/>
          </a:xfrm>
          <a:prstGeom prst="rect">
            <a:avLst/>
          </a:prstGeom>
          <a:solidFill>
            <a:srgbClr val="F2F4F6"/>
          </a:solidFill>
        </p:spPr>
        <p:txBody>
          <a:bodyPr wrap="square" rtlCol="0">
            <a:spAutoFit/>
          </a:bodyPr>
          <a:lstStyle/>
          <a:p>
            <a:endParaRPr lang="en-GB" sz="1600" dirty="0">
              <a:solidFill>
                <a:srgbClr val="6E6E6E"/>
              </a:solidFill>
              <a:latin typeface="Arial" panose="020B0604020202020204" pitchFamily="34" charset="0"/>
              <a:cs typeface="Arial" panose="020B0604020202020204" pitchFamily="34" charset="0"/>
            </a:endParaRPr>
          </a:p>
          <a:p>
            <a:endParaRPr lang="en-GB" sz="600" dirty="0">
              <a:solidFill>
                <a:srgbClr val="6E6E6E"/>
              </a:solidFill>
              <a:latin typeface="Arial" panose="020B0604020202020204" pitchFamily="34" charset="0"/>
              <a:cs typeface="Arial" panose="020B0604020202020204" pitchFamily="34" charset="0"/>
            </a:endParaRPr>
          </a:p>
          <a:p>
            <a:r>
              <a:rPr lang="en-GB" sz="1100" b="1" dirty="0">
                <a:solidFill>
                  <a:srgbClr val="142A43"/>
                </a:solidFill>
                <a:latin typeface="Arial" panose="020B0604020202020204" pitchFamily="34" charset="0"/>
                <a:cs typeface="Arial" panose="020B0604020202020204" pitchFamily="34" charset="0"/>
              </a:rPr>
              <a:t>Synergy Delivery</a:t>
            </a:r>
          </a:p>
          <a:p>
            <a:r>
              <a:rPr lang="en-GB" sz="1100" dirty="0">
                <a:solidFill>
                  <a:schemeClr val="bg2">
                    <a:lumMod val="25000"/>
                  </a:schemeClr>
                </a:solidFill>
                <a:latin typeface="Arial" panose="020B0604020202020204" pitchFamily="34" charset="0"/>
                <a:cs typeface="Arial" panose="020B0604020202020204" pitchFamily="34" charset="0"/>
              </a:rPr>
              <a:t>Procurement, distribution and head-office savings are critical.</a:t>
            </a:r>
          </a:p>
        </p:txBody>
      </p:sp>
      <p:sp>
        <p:nvSpPr>
          <p:cNvPr id="20" name="TextBox 19">
            <a:extLst>
              <a:ext uri="{FF2B5EF4-FFF2-40B4-BE49-F238E27FC236}">
                <a16:creationId xmlns:a16="http://schemas.microsoft.com/office/drawing/2014/main" id="{F7AE45E6-6AB0-0789-F6B7-F7E8514BADB3}"/>
              </a:ext>
            </a:extLst>
          </p:cNvPr>
          <p:cNvSpPr txBox="1"/>
          <p:nvPr/>
        </p:nvSpPr>
        <p:spPr>
          <a:xfrm>
            <a:off x="7992002" y="4744799"/>
            <a:ext cx="3790800" cy="938719"/>
          </a:xfrm>
          <a:prstGeom prst="rect">
            <a:avLst/>
          </a:prstGeom>
          <a:solidFill>
            <a:srgbClr val="F2F4F6"/>
          </a:solidFill>
        </p:spPr>
        <p:txBody>
          <a:bodyPr wrap="square" rtlCol="0">
            <a:spAutoFit/>
          </a:bodyPr>
          <a:lstStyle/>
          <a:p>
            <a:endParaRPr lang="en-GB" sz="1600" dirty="0">
              <a:solidFill>
                <a:srgbClr val="6E6E6E"/>
              </a:solidFill>
              <a:latin typeface="Arial" panose="020B0604020202020204" pitchFamily="34" charset="0"/>
              <a:cs typeface="Arial" panose="020B0604020202020204" pitchFamily="34" charset="0"/>
            </a:endParaRPr>
          </a:p>
          <a:p>
            <a:endParaRPr lang="en-GB" sz="500" dirty="0">
              <a:solidFill>
                <a:srgbClr val="6E6E6E"/>
              </a:solidFill>
              <a:latin typeface="Arial" panose="020B0604020202020204" pitchFamily="34" charset="0"/>
              <a:cs typeface="Arial" panose="020B0604020202020204" pitchFamily="34" charset="0"/>
            </a:endParaRPr>
          </a:p>
          <a:p>
            <a:r>
              <a:rPr lang="en-GB" sz="1100" b="1" dirty="0">
                <a:solidFill>
                  <a:srgbClr val="142A43"/>
                </a:solidFill>
                <a:latin typeface="Arial" panose="020B0604020202020204" pitchFamily="34" charset="0"/>
                <a:cs typeface="Arial" panose="020B0604020202020204" pitchFamily="34" charset="0"/>
              </a:rPr>
              <a:t>Integration Management</a:t>
            </a:r>
          </a:p>
          <a:p>
            <a:r>
              <a:rPr lang="en-GB" sz="1100" dirty="0">
                <a:solidFill>
                  <a:schemeClr val="bg2">
                    <a:lumMod val="25000"/>
                  </a:schemeClr>
                </a:solidFill>
                <a:latin typeface="Arial" panose="020B0604020202020204" pitchFamily="34" charset="0"/>
                <a:cs typeface="Arial" panose="020B0604020202020204" pitchFamily="34" charset="0"/>
              </a:rPr>
              <a:t>Execute the FY26E–FY28E integration programme within budget of </a:t>
            </a:r>
            <a:r>
              <a:rPr lang="en-GB" sz="1200" dirty="0">
                <a:solidFill>
                  <a:schemeClr val="bg2">
                    <a:lumMod val="25000"/>
                  </a:schemeClr>
                </a:solidFill>
                <a:latin typeface="Arial" panose="020B0604020202020204" pitchFamily="34" charset="0"/>
                <a:cs typeface="Arial" panose="020B0604020202020204" pitchFamily="34" charset="0"/>
              </a:rPr>
              <a:t>£50.5m </a:t>
            </a:r>
            <a:r>
              <a:rPr lang="en-GB" sz="1100" dirty="0">
                <a:solidFill>
                  <a:schemeClr val="bg2">
                    <a:lumMod val="25000"/>
                  </a:schemeClr>
                </a:solidFill>
                <a:latin typeface="Arial" panose="020B0604020202020204" pitchFamily="34" charset="0"/>
                <a:cs typeface="Arial" panose="020B0604020202020204" pitchFamily="34" charset="0"/>
              </a:rPr>
              <a:t>cumulative integration costs.</a:t>
            </a:r>
          </a:p>
        </p:txBody>
      </p:sp>
    </p:spTree>
    <p:extLst>
      <p:ext uri="{BB962C8B-B14F-4D97-AF65-F5344CB8AC3E}">
        <p14:creationId xmlns:p14="http://schemas.microsoft.com/office/powerpoint/2010/main" val="1774412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1358</TotalTime>
  <Words>1510</Words>
  <Application>Microsoft Office PowerPoint</Application>
  <PresentationFormat>Widescreen</PresentationFormat>
  <Paragraphs>366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Pugh</dc:creator>
  <cp:lastModifiedBy>Jacob Pugh</cp:lastModifiedBy>
  <cp:revision>1</cp:revision>
  <dcterms:created xsi:type="dcterms:W3CDTF">2026-09-11T12:25:39Z</dcterms:created>
  <dcterms:modified xsi:type="dcterms:W3CDTF">2026-09-12T11:04:30Z</dcterms:modified>
</cp:coreProperties>
</file>